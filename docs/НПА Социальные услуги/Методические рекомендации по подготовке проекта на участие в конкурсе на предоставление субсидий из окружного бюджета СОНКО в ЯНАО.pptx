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theme/theme4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845" r:id="rId2"/>
    <p:sldMasterId id="2147483850" r:id="rId3"/>
  </p:sldMasterIdLst>
  <p:notesMasterIdLst>
    <p:notesMasterId r:id="rId17"/>
  </p:notesMasterIdLst>
  <p:sldIdLst>
    <p:sldId id="260" r:id="rId4"/>
    <p:sldId id="258" r:id="rId5"/>
    <p:sldId id="293" r:id="rId6"/>
    <p:sldId id="294" r:id="rId7"/>
    <p:sldId id="295" r:id="rId8"/>
    <p:sldId id="296" r:id="rId9"/>
    <p:sldId id="299" r:id="rId10"/>
    <p:sldId id="266" r:id="rId11"/>
    <p:sldId id="297" r:id="rId12"/>
    <p:sldId id="300" r:id="rId13"/>
    <p:sldId id="301" r:id="rId14"/>
    <p:sldId id="302" r:id="rId15"/>
    <p:sldId id="303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F8F"/>
    <a:srgbClr val="66FF33"/>
    <a:srgbClr val="B7ECFF"/>
    <a:srgbClr val="6EA0B0"/>
    <a:srgbClr val="3EC0C6"/>
    <a:srgbClr val="005A9E"/>
    <a:srgbClr val="008000"/>
    <a:srgbClr val="FF33CC"/>
    <a:srgbClr val="FF66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058" autoAdjust="0"/>
    <p:restoredTop sz="94749" autoAdjust="0"/>
  </p:normalViewPr>
  <p:slideViewPr>
    <p:cSldViewPr>
      <p:cViewPr>
        <p:scale>
          <a:sx n="70" d="100"/>
          <a:sy n="70" d="100"/>
        </p:scale>
        <p:origin x="-2814" y="-9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9FC27-4321-47A0-8702-8086312521C0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6E2D3-41AF-4C97-AAB2-E3055120F2A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37325"/>
            <a:ext cx="28956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B106E36-FD25-4E2D-B0AA-010F637433A0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537325"/>
            <a:ext cx="28194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581400" y="6537325"/>
            <a:ext cx="22860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56404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37325"/>
            <a:ext cx="28956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B106E36-FD25-4E2D-B0AA-010F637433A0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537325"/>
            <a:ext cx="28194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581400" y="6537325"/>
            <a:ext cx="22860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56404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07976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085373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96080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72233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28418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0966691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6249826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04584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025224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875976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8975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1" y="1412876"/>
            <a:ext cx="84963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Образец </a:t>
            </a:r>
            <a:br>
              <a:rPr lang="ru-RU" dirty="0" smtClean="0"/>
            </a:br>
            <a:r>
              <a:rPr lang="ru-RU" dirty="0" smtClean="0"/>
              <a:t>текста</a:t>
            </a:r>
            <a:r>
              <a:rPr lang="en-US" dirty="0" smtClean="0"/>
              <a:t> </a:t>
            </a:r>
            <a:endParaRPr lang="ru-RU" dirty="0" smtClean="0"/>
          </a:p>
          <a:p>
            <a:pPr lvl="0"/>
            <a:r>
              <a:rPr lang="ru-RU" dirty="0" smtClean="0"/>
              <a:t>Образец </a:t>
            </a:r>
            <a:br>
              <a:rPr lang="ru-RU" dirty="0" smtClean="0"/>
            </a:br>
            <a:r>
              <a:rPr lang="ru-RU" dirty="0" smtClean="0"/>
              <a:t>текста</a:t>
            </a:r>
          </a:p>
          <a:p>
            <a:pPr lvl="1"/>
            <a:r>
              <a:rPr lang="ru-RU" dirty="0" smtClean="0"/>
              <a:t>Второй уровень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10772" y="214291"/>
            <a:ext cx="8715405" cy="82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pic>
        <p:nvPicPr>
          <p:cNvPr id="148484" name="Picture 4" descr="C:\Documents and Settings\pc118\Мои документы\!02_Проекты - презентации\Дизайн для учебной презентации\spark\line.png"/>
          <p:cNvPicPr>
            <a:picLocks noChangeAspect="1" noChangeArrowheads="1"/>
          </p:cNvPicPr>
          <p:nvPr/>
        </p:nvPicPr>
        <p:blipFill>
          <a:blip r:embed="rId6" cstate="print"/>
          <a:srcRect r="1505" b="22279"/>
          <a:stretch>
            <a:fillRect/>
          </a:stretch>
        </p:blipFill>
        <p:spPr bwMode="auto">
          <a:xfrm>
            <a:off x="66675" y="1078958"/>
            <a:ext cx="9077325" cy="13546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</p:sldLayoutIdLst>
  <p:transition spd="med">
    <p:wipe dir="r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baseline="0">
          <a:solidFill>
            <a:srgbClr val="3D3F8F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266700" indent="-266700" algn="l" rtl="0" eaLnBrk="1" fontAlgn="base" hangingPunct="1">
        <a:lnSpc>
          <a:spcPct val="90000"/>
        </a:lnSpc>
        <a:spcBef>
          <a:spcPts val="1200"/>
        </a:spcBef>
        <a:spcAft>
          <a:spcPct val="0"/>
        </a:spcAft>
        <a:buSzPct val="80000"/>
        <a:buFontTx/>
        <a:buBlip>
          <a:blip r:embed="rId7"/>
        </a:buBlip>
        <a:defRPr sz="2400" baseline="0">
          <a:solidFill>
            <a:srgbClr val="333333"/>
          </a:solidFill>
          <a:latin typeface="Calibri" pitchFamily="34" charset="0"/>
          <a:ea typeface="+mn-ea"/>
          <a:cs typeface="+mn-cs"/>
        </a:defRPr>
      </a:lvl1pPr>
      <a:lvl2pPr marL="622300" indent="-258763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400">
          <a:solidFill>
            <a:srgbClr val="333333"/>
          </a:solidFill>
          <a:latin typeface="Calibri" pitchFamily="34" charset="0"/>
        </a:defRPr>
      </a:lvl2pPr>
      <a:lvl3pPr marL="1065213" indent="-357188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400">
          <a:solidFill>
            <a:srgbClr val="666666"/>
          </a:solidFill>
          <a:latin typeface="Calibri" pitchFamily="34" charset="0"/>
        </a:defRPr>
      </a:lvl3pPr>
      <a:lvl4pPr marL="1435100" indent="-3683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Calibri" pitchFamily="34" charset="0"/>
        </a:defRPr>
      </a:lvl4pPr>
      <a:lvl5pPr marL="18176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Calibri" pitchFamily="34" charset="0"/>
        </a:defRPr>
      </a:lvl5pPr>
      <a:lvl6pPr marL="22748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+mn-lt"/>
        </a:defRPr>
      </a:lvl6pPr>
      <a:lvl7pPr marL="27320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+mn-lt"/>
        </a:defRPr>
      </a:lvl7pPr>
      <a:lvl8pPr marL="31892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+mn-lt"/>
        </a:defRPr>
      </a:lvl8pPr>
      <a:lvl9pPr marL="36464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6" cstate="print">
            <a:lum/>
          </a:blip>
          <a:srcRect/>
          <a:stretch>
            <a:fillRect l="-1000" t="-1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1" y="1412876"/>
            <a:ext cx="84963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Образец </a:t>
            </a:r>
            <a:br>
              <a:rPr lang="ru-RU" dirty="0" smtClean="0"/>
            </a:br>
            <a:r>
              <a:rPr lang="ru-RU" dirty="0" smtClean="0"/>
              <a:t>текста</a:t>
            </a:r>
            <a:r>
              <a:rPr lang="en-US" dirty="0" smtClean="0"/>
              <a:t> </a:t>
            </a:r>
            <a:endParaRPr lang="ru-RU" dirty="0" smtClean="0"/>
          </a:p>
          <a:p>
            <a:pPr lvl="0"/>
            <a:r>
              <a:rPr lang="ru-RU" dirty="0" smtClean="0"/>
              <a:t>Образец </a:t>
            </a:r>
            <a:br>
              <a:rPr lang="ru-RU" dirty="0" smtClean="0"/>
            </a:br>
            <a:r>
              <a:rPr lang="ru-RU" dirty="0" smtClean="0"/>
              <a:t>текста</a:t>
            </a:r>
          </a:p>
          <a:p>
            <a:pPr lvl="1"/>
            <a:r>
              <a:rPr lang="ru-RU" dirty="0" smtClean="0"/>
              <a:t>Второй уровень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10772" y="214291"/>
            <a:ext cx="8715405" cy="82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pic>
        <p:nvPicPr>
          <p:cNvPr id="148484" name="Picture 4" descr="C:\Documents and Settings\pc118\Мои документы\!02_Проекты - презентации\Дизайн для учебной презентации\spark\line.png"/>
          <p:cNvPicPr>
            <a:picLocks noChangeAspect="1" noChangeArrowheads="1"/>
          </p:cNvPicPr>
          <p:nvPr/>
        </p:nvPicPr>
        <p:blipFill>
          <a:blip r:embed="rId7" cstate="print"/>
          <a:srcRect r="1505" b="22279"/>
          <a:stretch>
            <a:fillRect/>
          </a:stretch>
        </p:blipFill>
        <p:spPr bwMode="auto">
          <a:xfrm>
            <a:off x="66675" y="1078958"/>
            <a:ext cx="9077325" cy="13546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</p:sldLayoutIdLst>
  <p:transition spd="med">
    <p:wipe dir="r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baseline="0">
          <a:solidFill>
            <a:srgbClr val="3D3F8F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266700" indent="-266700" algn="l" rtl="0" eaLnBrk="1" fontAlgn="base" hangingPunct="1">
        <a:lnSpc>
          <a:spcPct val="90000"/>
        </a:lnSpc>
        <a:spcBef>
          <a:spcPts val="1200"/>
        </a:spcBef>
        <a:spcAft>
          <a:spcPct val="0"/>
        </a:spcAft>
        <a:buSzPct val="80000"/>
        <a:buFontTx/>
        <a:buBlip>
          <a:blip r:embed="rId8"/>
        </a:buBlip>
        <a:defRPr sz="2400" baseline="0">
          <a:solidFill>
            <a:srgbClr val="333333"/>
          </a:solidFill>
          <a:latin typeface="Calibri" pitchFamily="34" charset="0"/>
          <a:ea typeface="+mn-ea"/>
          <a:cs typeface="+mn-cs"/>
        </a:defRPr>
      </a:lvl1pPr>
      <a:lvl2pPr marL="622300" indent="-258763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400">
          <a:solidFill>
            <a:srgbClr val="333333"/>
          </a:solidFill>
          <a:latin typeface="Calibri" pitchFamily="34" charset="0"/>
        </a:defRPr>
      </a:lvl2pPr>
      <a:lvl3pPr marL="1065213" indent="-357188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400">
          <a:solidFill>
            <a:srgbClr val="666666"/>
          </a:solidFill>
          <a:latin typeface="Calibri" pitchFamily="34" charset="0"/>
        </a:defRPr>
      </a:lvl3pPr>
      <a:lvl4pPr marL="1435100" indent="-3683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Calibri" pitchFamily="34" charset="0"/>
        </a:defRPr>
      </a:lvl4pPr>
      <a:lvl5pPr marL="18176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Calibri" pitchFamily="34" charset="0"/>
        </a:defRPr>
      </a:lvl5pPr>
      <a:lvl6pPr marL="22748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+mn-lt"/>
        </a:defRPr>
      </a:lvl6pPr>
      <a:lvl7pPr marL="27320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+mn-lt"/>
        </a:defRPr>
      </a:lvl7pPr>
      <a:lvl8pPr marL="31892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+mn-lt"/>
        </a:defRPr>
      </a:lvl8pPr>
      <a:lvl9pPr marL="36464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BFCFA-BD30-41ED-A67A-BA0010EFE772}" type="datetimeFigureOut">
              <a:rPr lang="ru-RU" smtClean="0"/>
              <a:pPr/>
              <a:t>07.02.2017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9160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transition spd="med">
    <p:wipe dir="r"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Роман\Desktop\Безымянный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19425" y="0"/>
            <a:ext cx="6124575" cy="2781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1979712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outerShdw blurRad="76200" dist="76200" algn="l" rotWithShape="0">
              <a:schemeClr val="tx1"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2328352" y="301824"/>
            <a:ext cx="6165898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0" cap="none" spc="0" normalizeH="0" baseline="0" noProof="0" dirty="0">
              <a:ln w="12700" cmpd="sng">
                <a:solidFill>
                  <a:srgbClr val="FFFFFF"/>
                </a:solidFill>
                <a:prstDash val="solid"/>
              </a:ln>
              <a:solidFill>
                <a:srgbClr val="3D3F8F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11560" y="2775193"/>
            <a:ext cx="1152128" cy="1152128"/>
          </a:xfrm>
          <a:prstGeom prst="roundRect">
            <a:avLst/>
          </a:prstGeom>
          <a:blipFill>
            <a:blip r:embed="rId3" cstate="print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11560" y="4011772"/>
            <a:ext cx="1152128" cy="1152128"/>
          </a:xfrm>
          <a:prstGeom prst="roundRect">
            <a:avLst/>
          </a:prstGeom>
          <a:blipFill>
            <a:blip r:embed="rId4" cstate="print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771800" y="5733256"/>
            <a:ext cx="864096" cy="864096"/>
          </a:xfrm>
          <a:prstGeom prst="roundRect">
            <a:avLst/>
          </a:prstGeom>
          <a:blipFill>
            <a:blip r:embed="rId5" cstate="print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1763688" y="5301208"/>
            <a:ext cx="864096" cy="864096"/>
          </a:xfrm>
          <a:prstGeom prst="roundRect">
            <a:avLst/>
          </a:prstGeom>
          <a:blipFill>
            <a:blip r:embed="rId6" cstate="print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>
            <a:spLocks noChangeAspect="1"/>
          </p:cNvSpPr>
          <p:nvPr/>
        </p:nvSpPr>
        <p:spPr>
          <a:xfrm>
            <a:off x="1115616" y="2204864"/>
            <a:ext cx="432048" cy="432048"/>
          </a:xfrm>
          <a:prstGeom prst="roundRect">
            <a:avLst/>
          </a:prstGeom>
          <a:solidFill>
            <a:srgbClr val="6EA0B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>
            <a:spLocks noChangeAspect="1"/>
          </p:cNvSpPr>
          <p:nvPr/>
        </p:nvSpPr>
        <p:spPr>
          <a:xfrm>
            <a:off x="1619672" y="2276872"/>
            <a:ext cx="432048" cy="432048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>
            <a:spLocks noChangeAspect="1"/>
          </p:cNvSpPr>
          <p:nvPr/>
        </p:nvSpPr>
        <p:spPr>
          <a:xfrm>
            <a:off x="1879251" y="4731852"/>
            <a:ext cx="432048" cy="432048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>
            <a:spLocks noChangeAspect="1"/>
          </p:cNvSpPr>
          <p:nvPr/>
        </p:nvSpPr>
        <p:spPr>
          <a:xfrm>
            <a:off x="1201780" y="5301208"/>
            <a:ext cx="432048" cy="4320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2143108" y="2571744"/>
            <a:ext cx="678661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П</a:t>
            </a:r>
            <a:r>
              <a:rPr lang="ru-RU" sz="2800" b="1" dirty="0" smtClean="0">
                <a:solidFill>
                  <a:srgbClr val="C00000"/>
                </a:solidFill>
              </a:rPr>
              <a:t>ОДГОТОВКА ПРОЕКТА </a:t>
            </a:r>
          </a:p>
          <a:p>
            <a:pPr algn="ctr"/>
            <a:r>
              <a:rPr lang="ru-RU" sz="2800" b="1" dirty="0" smtClean="0">
                <a:solidFill>
                  <a:srgbClr val="C00000"/>
                </a:solidFill>
              </a:rPr>
              <a:t>НА УЧАСТИЕ В КОНКУРСЕ </a:t>
            </a:r>
          </a:p>
          <a:p>
            <a:pPr algn="ctr"/>
            <a:r>
              <a:rPr lang="ru-RU" sz="2800" b="1" dirty="0" smtClean="0">
                <a:solidFill>
                  <a:srgbClr val="C00000"/>
                </a:solidFill>
              </a:rPr>
              <a:t>на предоставление субсидий из окружного бюджета социально ориентированным некоммерческим организациям в Ямало-Ненецком автономном округе </a:t>
            </a:r>
          </a:p>
          <a:p>
            <a:pPr algn="ctr"/>
            <a:r>
              <a:rPr lang="ru-RU" sz="1600" b="1" dirty="0" smtClean="0">
                <a:solidFill>
                  <a:srgbClr val="C00000"/>
                </a:solidFill>
              </a:rPr>
              <a:t>(конкурс проводится в соответствии с в соответствии с постановлением Правительства ЯНАО  от 23 декабря 2011 года № 988-П</a:t>
            </a:r>
            <a:endParaRPr lang="ru-RU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3" name="Рисунок 8" descr="C:\Documents and Settings\ardyshev_av\Local Settings\Temporary Internet Files\Content.Word\цвет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496" y="55340"/>
            <a:ext cx="1368152" cy="903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59046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835696" y="332656"/>
            <a:ext cx="6165898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Основные разделы </a:t>
            </a:r>
            <a:r>
              <a:rPr kumimoji="0" lang="ru-RU" sz="2500" b="1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проекта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42844" y="1500174"/>
            <a:ext cx="9001156" cy="469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ru-RU" b="1" dirty="0" smtClean="0"/>
              <a:t>-</a:t>
            </a:r>
            <a:r>
              <a:rPr lang="ru-RU" dirty="0" smtClean="0"/>
              <a:t> </a:t>
            </a:r>
            <a:r>
              <a:rPr lang="ru-RU" b="1" dirty="0" smtClean="0"/>
              <a:t>Вводная часть </a:t>
            </a:r>
            <a:r>
              <a:rPr lang="ru-RU" dirty="0" smtClean="0"/>
              <a:t>(описание проблемы, на решение которой направлены мероприятия проекта, цель проекта, задачи проекта).</a:t>
            </a:r>
          </a:p>
          <a:p>
            <a:pPr algn="just"/>
            <a:r>
              <a:rPr lang="ru-RU" b="1" dirty="0" smtClean="0"/>
              <a:t>-</a:t>
            </a:r>
            <a:r>
              <a:rPr lang="ru-RU" dirty="0" smtClean="0"/>
              <a:t> </a:t>
            </a:r>
            <a:r>
              <a:rPr lang="ru-RU" b="1" dirty="0" smtClean="0"/>
              <a:t>Ожидаемые результаты </a:t>
            </a:r>
            <a:r>
              <a:rPr lang="ru-RU" dirty="0" smtClean="0"/>
              <a:t>(перечень значений показателей результативности предоставления субсидии, количественные и качественные характеристики); </a:t>
            </a:r>
            <a:r>
              <a:rPr lang="ru-RU" i="1" dirty="0" smtClean="0">
                <a:solidFill>
                  <a:srgbClr val="FF0000"/>
                </a:solidFill>
              </a:rPr>
              <a:t>рекомендуется оформлять в табличной форме.</a:t>
            </a:r>
          </a:p>
          <a:p>
            <a:pPr algn="just"/>
            <a:r>
              <a:rPr lang="ru-RU" b="1" dirty="0" smtClean="0"/>
              <a:t>-</a:t>
            </a:r>
            <a:r>
              <a:rPr lang="ru-RU" dirty="0" smtClean="0"/>
              <a:t> </a:t>
            </a:r>
            <a:r>
              <a:rPr lang="ru-RU" b="1" dirty="0" smtClean="0"/>
              <a:t>Информация об организации </a:t>
            </a:r>
            <a:r>
              <a:rPr lang="ru-RU" dirty="0" smtClean="0"/>
              <a:t>(ИНН/КПП организации, регистрационный номер в Отделении Пенсионного фонда РФ по ЯНАО, регистрационный номер в региональном отделении Фонда социального страхования РФ по ЯНАО).</a:t>
            </a:r>
          </a:p>
          <a:p>
            <a:r>
              <a:rPr lang="ru-RU" b="1" dirty="0" smtClean="0"/>
              <a:t>- Описание основных мероприятий </a:t>
            </a:r>
            <a:r>
              <a:rPr lang="ru-RU" dirty="0" smtClean="0"/>
              <a:t>(календарный план мероприятий, необходимых для реализации проекта);</a:t>
            </a:r>
            <a:r>
              <a:rPr lang="ru-RU" i="1" dirty="0" smtClean="0"/>
              <a:t> </a:t>
            </a:r>
            <a:r>
              <a:rPr lang="ru-RU" i="1" dirty="0" smtClean="0">
                <a:solidFill>
                  <a:srgbClr val="FF0000"/>
                </a:solidFill>
              </a:rPr>
              <a:t>рекомендуется оформлять в табличной форме.</a:t>
            </a:r>
          </a:p>
          <a:p>
            <a:r>
              <a:rPr lang="ru-RU" b="1" dirty="0" smtClean="0"/>
              <a:t>- Смета</a:t>
            </a:r>
            <a:r>
              <a:rPr lang="ru-RU" dirty="0" smtClean="0"/>
              <a:t> предполагаемых поступлений и планируемых расходов.</a:t>
            </a:r>
          </a:p>
          <a:p>
            <a:r>
              <a:rPr lang="ru-RU" b="1" dirty="0" smtClean="0"/>
              <a:t>- Финансово-экономическое обоснование</a:t>
            </a:r>
            <a:r>
              <a:rPr lang="ru-RU" dirty="0" smtClean="0"/>
              <a:t> расходов на реализацию проекта.</a:t>
            </a:r>
          </a:p>
          <a:p>
            <a:r>
              <a:rPr lang="ru-RU" b="1" dirty="0" smtClean="0"/>
              <a:t>- Иные сведения </a:t>
            </a:r>
            <a:r>
              <a:rPr lang="ru-RU" dirty="0" smtClean="0"/>
              <a:t>о проекте согласно Таблице.</a:t>
            </a:r>
          </a:p>
          <a:p>
            <a:r>
              <a:rPr lang="ru-RU" b="1" dirty="0" smtClean="0"/>
              <a:t>- Паспорт социально ориентированной некоммерческой организации.</a:t>
            </a:r>
          </a:p>
          <a:p>
            <a:pPr>
              <a:buFontTx/>
              <a:buChar char="-"/>
            </a:pPr>
            <a:r>
              <a:rPr lang="ru-RU" b="1" dirty="0" smtClean="0"/>
              <a:t> Информация о социально ориентированной некоммерческой организации.</a:t>
            </a:r>
          </a:p>
          <a:p>
            <a:pPr>
              <a:buFontTx/>
              <a:buChar char="-"/>
            </a:pPr>
            <a:r>
              <a:rPr lang="ru-RU" b="1" dirty="0" smtClean="0"/>
              <a:t> Информация об исполнителях проекта.</a:t>
            </a:r>
            <a:endParaRPr lang="ru-RU" dirty="0" smtClean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357290" y="332656"/>
            <a:ext cx="7500990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Описание проблемы, цели и задач проекта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500174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214282" y="1285860"/>
            <a:ext cx="8929718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defRPr/>
            </a:pPr>
            <a:r>
              <a:rPr lang="ru-RU" sz="2000" b="1" dirty="0" smtClean="0">
                <a:solidFill>
                  <a:srgbClr val="C00000"/>
                </a:solidFill>
              </a:rPr>
              <a:t>ПРОБЛЕМА </a:t>
            </a:r>
            <a:r>
              <a:rPr lang="ru-RU" sz="2000" dirty="0" smtClean="0"/>
              <a:t>– краткое описание существующей социальной негативной ситуации, на изменение или устранение которой направлен проект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(рекомендуется не более одной страницы текста)</a:t>
            </a: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rgbClr val="C00000"/>
              </a:solidFill>
            </a:endParaRPr>
          </a:p>
          <a:p>
            <a:pPr algn="just">
              <a:lnSpc>
                <a:spcPct val="90000"/>
              </a:lnSpc>
              <a:defRPr/>
            </a:pPr>
            <a:r>
              <a:rPr lang="ru-RU" sz="2000" b="1" dirty="0" smtClean="0">
                <a:solidFill>
                  <a:srgbClr val="C00000"/>
                </a:solidFill>
              </a:rPr>
              <a:t>ЦЕЛЬ</a:t>
            </a:r>
            <a:r>
              <a:rPr lang="ru-RU" sz="2000" b="1" dirty="0" smtClean="0">
                <a:solidFill>
                  <a:srgbClr val="FF99FF"/>
                </a:solidFill>
              </a:rPr>
              <a:t> </a:t>
            </a:r>
            <a:r>
              <a:rPr lang="ru-RU" sz="2000" dirty="0" smtClean="0"/>
              <a:t>–</a:t>
            </a:r>
            <a:r>
              <a:rPr lang="ru-RU" sz="2000" dirty="0" smtClean="0">
                <a:solidFill>
                  <a:srgbClr val="FF99FF"/>
                </a:solidFill>
              </a:rPr>
              <a:t> </a:t>
            </a:r>
            <a:r>
              <a:rPr lang="ru-RU" sz="2000" dirty="0" smtClean="0"/>
              <a:t>желаемый результат, на достижение которого направлена реализация проекта, итог решения социальной проблемы или ее части в ходе реализации проекта.  Цель может быть масштабной, выходящей за рамки предлагаемого к реализации </a:t>
            </a:r>
            <a:r>
              <a:rPr lang="ru-RU" sz="2000" smtClean="0"/>
              <a:t>проекта.</a:t>
            </a:r>
            <a:endParaRPr lang="ru-RU" sz="2000" dirty="0" smtClean="0"/>
          </a:p>
          <a:p>
            <a:pPr>
              <a:lnSpc>
                <a:spcPct val="90000"/>
              </a:lnSpc>
              <a:defRPr/>
            </a:pP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Например:  100%-е устройство бездомных животных к новым хозяевам</a:t>
            </a:r>
          </a:p>
          <a:p>
            <a:pPr>
              <a:lnSpc>
                <a:spcPct val="50000"/>
              </a:lnSpc>
              <a:defRPr/>
            </a:pPr>
            <a:endParaRPr lang="ru-RU" sz="2000" b="1" dirty="0" smtClean="0"/>
          </a:p>
          <a:p>
            <a:pPr>
              <a:lnSpc>
                <a:spcPct val="50000"/>
              </a:lnSpc>
              <a:defRPr/>
            </a:pPr>
            <a:endParaRPr lang="ru-RU" sz="2000" b="1" dirty="0" smtClean="0"/>
          </a:p>
          <a:p>
            <a:pPr algn="just">
              <a:lnSpc>
                <a:spcPct val="90000"/>
              </a:lnSpc>
              <a:defRPr/>
            </a:pPr>
            <a:r>
              <a:rPr lang="ru-RU" sz="2000" b="1" dirty="0" smtClean="0">
                <a:solidFill>
                  <a:srgbClr val="C00000"/>
                </a:solidFill>
              </a:rPr>
              <a:t>ЗАДАЧИ </a:t>
            </a:r>
            <a:r>
              <a:rPr lang="ru-RU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ru-RU" sz="2000" dirty="0" smtClean="0"/>
              <a:t>действия, направленные на достижение цели в рамках реализации проекта, которые должны быть конкретными, измеримыми,  достижимыми, реальными,  ограниченными во времени</a:t>
            </a:r>
          </a:p>
          <a:p>
            <a:pPr>
              <a:lnSpc>
                <a:spcPct val="90000"/>
              </a:lnSpc>
              <a:defRPr/>
            </a:pP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Например: строительство вольера для бездомных животных </a:t>
            </a: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>
              <a:lnSpc>
                <a:spcPct val="90000"/>
              </a:lnSpc>
              <a:defRPr/>
            </a:pPr>
            <a:r>
              <a:rPr lang="ru-RU" sz="2000" b="1" dirty="0" smtClean="0">
                <a:solidFill>
                  <a:srgbClr val="FF0000"/>
                </a:solidFill>
              </a:rPr>
              <a:t>Рекомендуется планировать достижение цели путем решения не более 2-4 задач</a:t>
            </a: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835696" y="332656"/>
            <a:ext cx="6165898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Ожидаемые результаты проекта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500174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571612"/>
            <a:ext cx="8501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00034" y="1571613"/>
            <a:ext cx="84296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Перечень </a:t>
            </a:r>
          </a:p>
          <a:p>
            <a:pPr algn="ctr"/>
            <a:r>
              <a:rPr lang="ru-RU" dirty="0" smtClean="0"/>
              <a:t>значений показателей результативности предоставления субсидии (количественные и качественные характеристики) </a:t>
            </a:r>
          </a:p>
          <a:p>
            <a:pPr algn="ctr"/>
            <a:r>
              <a:rPr lang="ru-RU" i="1" dirty="0" smtClean="0">
                <a:solidFill>
                  <a:srgbClr val="FF0000"/>
                </a:solidFill>
              </a:rPr>
              <a:t>рекомендуется оформлять в виде таблицы</a:t>
            </a:r>
            <a:r>
              <a:rPr lang="ru-RU" i="1" dirty="0" smtClean="0"/>
              <a:t> 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00034" y="3143248"/>
          <a:ext cx="8286810" cy="2497467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739894"/>
                <a:gridCol w="3699468"/>
                <a:gridCol w="3847448"/>
              </a:tblGrid>
              <a:tr h="619129"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№ </a:t>
                      </a:r>
                      <a:r>
                        <a:rPr lang="ru-RU" b="1" dirty="0" err="1" smtClean="0">
                          <a:solidFill>
                            <a:schemeClr val="tx1"/>
                          </a:solidFill>
                        </a:rPr>
                        <a:t>п</a:t>
                      </a:r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b="1" dirty="0" err="1" smtClean="0">
                          <a:solidFill>
                            <a:schemeClr val="tx1"/>
                          </a:solidFill>
                        </a:rPr>
                        <a:t>п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Наименование показателя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Количественный показатель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19129">
                <a:tc>
                  <a:txBody>
                    <a:bodyPr/>
                    <a:lstStyle/>
                    <a:p>
                      <a:r>
                        <a:rPr lang="ru-RU" dirty="0" smtClean="0"/>
                        <a:t>1.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619129">
                <a:tc>
                  <a:txBody>
                    <a:bodyPr/>
                    <a:lstStyle/>
                    <a:p>
                      <a:r>
                        <a:rPr lang="ru-RU" dirty="0" smtClean="0"/>
                        <a:t>2.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619129">
                <a:tc>
                  <a:txBody>
                    <a:bodyPr/>
                    <a:lstStyle/>
                    <a:p>
                      <a:r>
                        <a:rPr lang="ru-RU" dirty="0" smtClean="0"/>
                        <a:t>3.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428596" y="5711627"/>
            <a:ext cx="8429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* это могут быть число мероприятий, количество участников мероприятий, количество публикаций и др.</a:t>
            </a:r>
            <a:r>
              <a:rPr lang="ru-RU" i="1" dirty="0" smtClean="0"/>
              <a:t> </a:t>
            </a:r>
            <a:endParaRPr lang="ru-RU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835696" y="332656"/>
            <a:ext cx="6165898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Описание</a:t>
            </a:r>
            <a:r>
              <a:rPr kumimoji="0" lang="ru-RU" sz="2500" b="1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основных мероприятий проекта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500174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571612"/>
            <a:ext cx="8501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00034" y="1571612"/>
            <a:ext cx="8358246" cy="589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000"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В описательной части необходимо обосновать, почему проведение именно этих мероприятий необходимо для реализации проекта, как и в какой степени проведение этих мероприятий позволит решить задачи проекта и будет способствовать достижению цели проекта. </a:t>
            </a:r>
          </a:p>
          <a:p>
            <a:pPr indent="450000"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Также необходимо составить Календарный план мероприятий с указанием сроков и ответственных за их проведение .</a:t>
            </a:r>
          </a:p>
          <a:p>
            <a:pPr algn="ctr"/>
            <a:endParaRPr lang="ru-RU" sz="1500" b="1" dirty="0" smtClean="0"/>
          </a:p>
          <a:p>
            <a:pPr algn="ctr"/>
            <a:r>
              <a:rPr lang="ru-RU" sz="2000" b="1" dirty="0" smtClean="0"/>
              <a:t>Календарный план </a:t>
            </a:r>
          </a:p>
          <a:p>
            <a:pPr algn="ctr"/>
            <a:r>
              <a:rPr lang="ru-RU" sz="2000" b="1" dirty="0" smtClean="0"/>
              <a:t>мероприятий, направленных на реализацию проекта</a:t>
            </a:r>
          </a:p>
          <a:p>
            <a:pPr algn="ctr"/>
            <a:r>
              <a:rPr lang="ru-RU" sz="2000" i="1" dirty="0" smtClean="0">
                <a:solidFill>
                  <a:srgbClr val="FF0000"/>
                </a:solidFill>
              </a:rPr>
              <a:t>(рекомендуемая форма)</a:t>
            </a:r>
          </a:p>
          <a:p>
            <a:pPr algn="ctr"/>
            <a:endParaRPr lang="ru-RU" sz="2000" b="1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214282" y="4714884"/>
          <a:ext cx="8786874" cy="1643074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857256"/>
                <a:gridCol w="3429024"/>
                <a:gridCol w="2196720"/>
                <a:gridCol w="2303874"/>
              </a:tblGrid>
              <a:tr h="558593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№ 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</a:rPr>
                        <a:t>п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</a:rPr>
                        <a:t>п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Наименование мероприятия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Сроки реализации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Ответственные исполнители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02928">
                <a:tc>
                  <a:txBody>
                    <a:bodyPr/>
                    <a:lstStyle/>
                    <a:p>
                      <a:r>
                        <a:rPr lang="ru-RU" dirty="0" smtClean="0"/>
                        <a:t>1.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500066">
                <a:tc>
                  <a:txBody>
                    <a:bodyPr/>
                    <a:lstStyle/>
                    <a:p>
                      <a:r>
                        <a:rPr lang="ru-RU" dirty="0" smtClean="0"/>
                        <a:t>2.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571604" y="332656"/>
            <a:ext cx="7143800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Смета </a:t>
            </a:r>
            <a:r>
              <a:rPr lang="ru-RU" sz="2500" b="1" kern="0" dirty="0" smtClean="0">
                <a:solidFill>
                  <a:srgbClr val="C00000"/>
                </a:solidFill>
                <a:latin typeface="Calibri" pitchFamily="34" charset="0"/>
                <a:ea typeface="+mj-ea"/>
                <a:cs typeface="+mj-cs"/>
              </a:rPr>
              <a:t>предполагаемых поступлений и планируемых расходов на реализацию </a:t>
            </a:r>
            <a:r>
              <a:rPr kumimoji="0" lang="ru-RU" sz="2500" b="1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проекта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357298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571612"/>
            <a:ext cx="8501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14282" y="1571612"/>
            <a:ext cx="8929718" cy="726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/>
              <a:t>Финансовый план проекта</a:t>
            </a:r>
          </a:p>
          <a:p>
            <a:pPr algn="ctr"/>
            <a:r>
              <a:rPr lang="ru-RU" sz="2000" i="1" dirty="0" smtClean="0">
                <a:solidFill>
                  <a:srgbClr val="FF0000"/>
                </a:solidFill>
              </a:rPr>
              <a:t>(рекомендуемая форма)</a:t>
            </a: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500" i="1" dirty="0" smtClean="0">
              <a:solidFill>
                <a:srgbClr val="FF0000"/>
              </a:solidFill>
            </a:endParaRPr>
          </a:p>
          <a:p>
            <a:pPr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При оформлении финансового плана проекта необходимо дополнительно указать:  </a:t>
            </a:r>
          </a:p>
          <a:p>
            <a:pPr algn="just"/>
            <a:endParaRPr lang="ru-RU" sz="500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FontTx/>
              <a:buChar char="-"/>
            </a:pP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 предполагаемый объем </a:t>
            </a:r>
            <a:r>
              <a:rPr lang="ru-RU" sz="2000" i="1" dirty="0" err="1" smtClean="0">
                <a:latin typeface="Times New Roman" pitchFamily="18" charset="0"/>
                <a:cs typeface="Times New Roman" pitchFamily="18" charset="0"/>
              </a:rPr>
              <a:t>софинансирования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 проекта за счет средств федерального бюджета, бюджетов муниципальных образований в Ямало-Ненецком автономном округе;</a:t>
            </a:r>
          </a:p>
          <a:p>
            <a:pPr algn="just">
              <a:lnSpc>
                <a:spcPct val="80000"/>
              </a:lnSpc>
            </a:pPr>
            <a:endParaRPr lang="ru-RU" sz="500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объема предполагаемых поступлений на реализацию проекта из внебюджетных источников в размере не менее 10% от общей суммы на реализацию проекта, включая денежные средства, иное имущество, имущественные права, безвозмездно выполняемые работы и оказываемые услуги, труд добровольцев</a:t>
            </a:r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214282" y="2348862"/>
          <a:ext cx="8644000" cy="137446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685805"/>
                <a:gridCol w="2771795"/>
                <a:gridCol w="1728800"/>
                <a:gridCol w="1728800"/>
                <a:gridCol w="1728800"/>
              </a:tblGrid>
              <a:tr h="51249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№ 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</a:rPr>
                        <a:t>п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</a:rPr>
                        <a:t>п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Наименование расходов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Стоимость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Количество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Сумма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68620">
                <a:tc>
                  <a:txBody>
                    <a:bodyPr/>
                    <a:lstStyle/>
                    <a:p>
                      <a:r>
                        <a:rPr lang="ru-RU" dirty="0" smtClean="0"/>
                        <a:t>1.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57191">
                <a:tc>
                  <a:txBody>
                    <a:bodyPr/>
                    <a:lstStyle/>
                    <a:p>
                      <a:r>
                        <a:rPr lang="ru-RU" dirty="0" smtClean="0"/>
                        <a:t>2.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571604" y="332656"/>
            <a:ext cx="7143800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Основные виды </a:t>
            </a:r>
            <a:r>
              <a:rPr lang="ru-RU" sz="2500" b="1" kern="0" dirty="0" smtClean="0">
                <a:solidFill>
                  <a:srgbClr val="C00000"/>
                </a:solidFill>
                <a:latin typeface="Calibri" pitchFamily="34" charset="0"/>
                <a:ea typeface="+mj-ea"/>
                <a:cs typeface="+mj-cs"/>
              </a:rPr>
              <a:t>расходов на реализацию </a:t>
            </a:r>
            <a:r>
              <a:rPr kumimoji="0" lang="ru-RU" sz="2500" b="1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проекта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357298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571612"/>
            <a:ext cx="8501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14282" y="1214422"/>
            <a:ext cx="8929718" cy="5555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/>
              <a:t>Финансовый план проекта</a:t>
            </a:r>
          </a:p>
          <a:p>
            <a:pPr algn="ctr"/>
            <a:r>
              <a:rPr lang="ru-RU" sz="2000" i="1" dirty="0" smtClean="0">
                <a:solidFill>
                  <a:srgbClr val="FF0000"/>
                </a:solidFill>
              </a:rPr>
              <a:t>(допускаемые виды расходов)</a:t>
            </a: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2000" i="1" dirty="0" smtClean="0">
              <a:solidFill>
                <a:srgbClr val="FF0000"/>
              </a:solidFill>
            </a:endParaRPr>
          </a:p>
          <a:p>
            <a:pPr algn="ctr"/>
            <a:endParaRPr lang="ru-RU" sz="500" i="1" dirty="0" smtClean="0">
              <a:solidFill>
                <a:srgbClr val="FF0000"/>
              </a:solidFill>
            </a:endParaRPr>
          </a:p>
          <a:p>
            <a:pPr algn="just"/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 счет средств субсидии запрещены следующие виды расходов: 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на предпринимательскую деятельность, оказание помощи коммерческим организациям; не связанные напрямую с целями проекта; поддержку политических партий и избирательных кампаний; проведение митингов, демонстраций, пикетирований; фундаментальные научные исследования; уплату штрафов; приобретение алкогольных напитков и табачной продукции; приобретение иностранной валюты</a:t>
            </a:r>
            <a:endParaRPr lang="ru-RU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214282" y="2070439"/>
          <a:ext cx="8644000" cy="2930197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571504"/>
                <a:gridCol w="4714908"/>
                <a:gridCol w="1000132"/>
                <a:gridCol w="1285884"/>
                <a:gridCol w="1071572"/>
              </a:tblGrid>
              <a:tr h="707809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№ 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</a:rPr>
                        <a:t>п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</a:rPr>
                        <a:t>п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Наименование расходов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>
                          <a:solidFill>
                            <a:schemeClr val="tx1"/>
                          </a:solidFill>
                        </a:rPr>
                        <a:t>Стои-мость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Коли-</a:t>
                      </a:r>
                    </a:p>
                    <a:p>
                      <a:pPr algn="ctr"/>
                      <a:r>
                        <a:rPr lang="ru-RU" dirty="0" err="1" smtClean="0">
                          <a:solidFill>
                            <a:schemeClr val="tx1"/>
                          </a:solidFill>
                        </a:rPr>
                        <a:t>чество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Сумма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7625">
                <a:tc>
                  <a:txBody>
                    <a:bodyPr/>
                    <a:lstStyle/>
                    <a:p>
                      <a:r>
                        <a:rPr lang="ru-RU" dirty="0" smtClean="0"/>
                        <a:t>1.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Оплата</a:t>
                      </a:r>
                      <a:r>
                        <a:rPr lang="ru-RU" baseline="0" dirty="0" smtClean="0"/>
                        <a:t> труда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04462">
                <a:tc>
                  <a:txBody>
                    <a:bodyPr/>
                    <a:lstStyle/>
                    <a:p>
                      <a:r>
                        <a:rPr lang="ru-RU" dirty="0" smtClean="0"/>
                        <a:t>2.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Страховые отчисления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623244">
                <a:tc>
                  <a:txBody>
                    <a:bodyPr/>
                    <a:lstStyle/>
                    <a:p>
                      <a:r>
                        <a:rPr lang="ru-RU" dirty="0" smtClean="0"/>
                        <a:t>3.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Оплата товаров, работ,</a:t>
                      </a:r>
                      <a:r>
                        <a:rPr lang="ru-RU" baseline="0" dirty="0" smtClean="0"/>
                        <a:t> услуг  </a:t>
                      </a:r>
                      <a:r>
                        <a:rPr lang="ru-RU" i="1" baseline="0" dirty="0" smtClean="0"/>
                        <a:t>(расшифровать все виды расходов)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41593">
                <a:tc>
                  <a:txBody>
                    <a:bodyPr/>
                    <a:lstStyle/>
                    <a:p>
                      <a:r>
                        <a:rPr lang="ru-RU" dirty="0" smtClean="0"/>
                        <a:t>4.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Арендная плата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404461">
                <a:tc>
                  <a:txBody>
                    <a:bodyPr/>
                    <a:lstStyle/>
                    <a:p>
                      <a:r>
                        <a:rPr lang="ru-RU" dirty="0" smtClean="0"/>
                        <a:t>5.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Прочие расходы </a:t>
                      </a:r>
                      <a:r>
                        <a:rPr lang="ru-RU" sz="1500" i="1" dirty="0" smtClean="0"/>
                        <a:t>(почтовые,</a:t>
                      </a:r>
                      <a:r>
                        <a:rPr lang="ru-RU" sz="1500" i="1" baseline="0" dirty="0" smtClean="0"/>
                        <a:t> банковские и др.)</a:t>
                      </a:r>
                      <a:endParaRPr lang="ru-RU" sz="15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642910" y="214291"/>
            <a:ext cx="8358246" cy="824508"/>
          </a:xfrm>
          <a:prstGeom prst="rect">
            <a:avLst/>
          </a:prstGeom>
        </p:spPr>
        <p:txBody>
          <a:bodyPr anchor="ctr" anchorCtr="0"/>
          <a:lstStyle/>
          <a:p>
            <a:pPr lvl="0"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Финансово-экономическое </a:t>
            </a:r>
          </a:p>
          <a:p>
            <a:pPr lvl="0"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обоснование расходов на реализацию проекта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14282" y="1357298"/>
            <a:ext cx="8786874" cy="5299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AutoNum type="arabicParenR"/>
              <a:defRPr/>
            </a:pP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Обоснование целевых расходов по проекту в целом по укрупненным группам расходов </a:t>
            </a:r>
            <a:r>
              <a:rPr lang="ru-RU" sz="2000" i="1" dirty="0" smtClean="0">
                <a:solidFill>
                  <a:srgbClr val="0070C0"/>
                </a:solidFill>
              </a:rPr>
              <a:t>(заработная плата, транспортные и гостиничные услуги, приобретение товаров, работ, услуг и т.д.)</a:t>
            </a:r>
            <a:r>
              <a:rPr lang="ru-RU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Необходимо обосновать/доказать, почему для реализации проекта необходимы  именно данные расходы. </a:t>
            </a:r>
          </a:p>
          <a:p>
            <a:pPr algn="just"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90000"/>
              </a:lnSpc>
              <a:buAutoNum type="arabicParenR" startAt="2"/>
              <a:defRPr/>
            </a:pP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Обоснование необходимости расходов для проведения каждого мероприятия проекта с учетом их содержания. </a:t>
            </a:r>
          </a:p>
          <a:p>
            <a:pPr algn="just">
              <a:lnSpc>
                <a:spcPct val="90000"/>
              </a:lnSpc>
              <a:defRPr/>
            </a:pPr>
            <a:r>
              <a:rPr lang="ru-RU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Например: для проведения запланированной акции необходимо закупить /изготовить буклеты, баннеры, воздушные шары и др.</a:t>
            </a:r>
          </a:p>
          <a:p>
            <a:pPr algn="just">
              <a:lnSpc>
                <a:spcPct val="90000"/>
              </a:lnSpc>
              <a:defRPr/>
            </a:pPr>
            <a:endParaRPr lang="ru-RU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90000"/>
              </a:lnSpc>
              <a:defRPr/>
            </a:pP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3) Обоснование величины каждого вида расходов</a:t>
            </a:r>
            <a:r>
              <a:rPr lang="ru-RU" sz="2000" i="1" dirty="0" smtClean="0">
                <a:solidFill>
                  <a:srgbClr val="0070C0"/>
                </a:solidFill>
              </a:rPr>
              <a:t> (заработная плата, транспортные и гостиничные услуги, приобретение товаров, работ, услуг и т.д.) </a:t>
            </a: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just">
              <a:lnSpc>
                <a:spcPct val="90000"/>
              </a:lnSpc>
              <a:defRPr/>
            </a:pPr>
            <a:r>
              <a:rPr lang="ru-RU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Например: стоимость изготовления баннера  по коммерческому предложению (наименование фирмы…) стоит (столько…) рублей.</a:t>
            </a:r>
          </a:p>
          <a:p>
            <a:pPr algn="just">
              <a:lnSpc>
                <a:spcPct val="90000"/>
              </a:lnSpc>
              <a:defRPr/>
            </a:pPr>
            <a:r>
              <a:rPr lang="ru-RU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ru-RU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just">
              <a:lnSpc>
                <a:spcPct val="90000"/>
              </a:lnSpc>
              <a:defRPr/>
            </a:pP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Рекомендуется приложить к проекту коммерческие предложения потенциальных поставщиков товаров/услуг.    </a:t>
            </a:r>
            <a:endParaRPr lang="ru-RU" sz="20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805235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763689" y="214291"/>
            <a:ext cx="6165898" cy="824508"/>
          </a:xfrm>
          <a:prstGeom prst="rect">
            <a:avLst/>
          </a:prstGeom>
        </p:spPr>
        <p:txBody>
          <a:bodyPr anchor="ctr" anchorCtr="0"/>
          <a:lstStyle/>
          <a:p>
            <a:pPr lvl="0"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Иные сведения о проекте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2844" y="1357298"/>
            <a:ext cx="878687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defRPr/>
            </a:pP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Иные сведения о проекте в обязательном порядке необходимо заполнить согласно таблице </a:t>
            </a:r>
            <a:r>
              <a:rPr lang="ru-RU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(Приложение №2 к Порядку) </a:t>
            </a: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 указанием количественных единиц. </a:t>
            </a:r>
          </a:p>
          <a:p>
            <a:pPr algn="just">
              <a:lnSpc>
                <a:spcPct val="80000"/>
              </a:lnSpc>
              <a:defRPr/>
            </a:pPr>
            <a:r>
              <a:rPr lang="ru-RU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Например: к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оличество привлеченных волонтеров, добровольцев к реализации проекта - 10</a:t>
            </a:r>
            <a:endParaRPr lang="ru-RU" sz="2000" b="1" i="1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80000"/>
              </a:lnSpc>
              <a:defRPr/>
            </a:pPr>
            <a:r>
              <a:rPr lang="ru-RU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В столбце «Наименование социальной услуги, оказываемой в рамках реализации проекта» допускается сокращение слов.</a:t>
            </a:r>
          </a:p>
          <a:p>
            <a:pPr algn="just">
              <a:lnSpc>
                <a:spcPct val="80000"/>
              </a:lnSpc>
              <a:defRPr/>
            </a:pPr>
            <a:endParaRPr lang="ru-RU" sz="2000" b="1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80000"/>
              </a:lnSpc>
              <a:defRPr/>
            </a:pPr>
            <a:r>
              <a:rPr lang="ru-RU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В случае, если имеется дополнительная информация, она указывается в свободной форме в виде приложения к проекту.</a:t>
            </a:r>
          </a:p>
          <a:p>
            <a:pPr algn="just">
              <a:lnSpc>
                <a:spcPct val="80000"/>
              </a:lnSpc>
              <a:defRPr/>
            </a:pPr>
            <a:endParaRPr lang="ru-RU" sz="2000" b="1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r>
              <a:rPr lang="ru-RU" sz="2000" b="1" i="1" dirty="0" smtClean="0">
                <a:solidFill>
                  <a:srgbClr val="FF0000"/>
                </a:solidFill>
              </a:rPr>
              <a:t>Важно </a:t>
            </a:r>
            <a:r>
              <a:rPr lang="ru-RU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максимально точно подсчитать плановые цифры в таблице, так как при сдаче итогового отчета о достижении значений показателей результативности использования субсидии данная таблица заполняется повторно, но уже с указанием фактически достигнутых количественных показателей.</a:t>
            </a: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805235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214414" y="214291"/>
            <a:ext cx="7786742" cy="824508"/>
          </a:xfrm>
          <a:prstGeom prst="rect">
            <a:avLst/>
          </a:prstGeom>
        </p:spPr>
        <p:txBody>
          <a:bodyPr anchor="ctr" anchorCtr="0"/>
          <a:lstStyle/>
          <a:p>
            <a:pPr>
              <a:lnSpc>
                <a:spcPct val="80000"/>
              </a:lnSpc>
            </a:pPr>
            <a:endParaRPr lang="ru-RU" sz="2500" b="1" dirty="0" smtClean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Паспорт социально </a:t>
            </a:r>
          </a:p>
          <a:p>
            <a:pPr algn="ctr">
              <a:lnSpc>
                <a:spcPct val="80000"/>
              </a:lnSpc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ориентированной некоммерческой организации</a:t>
            </a:r>
          </a:p>
          <a:p>
            <a:pPr lvl="0"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2844" y="1357298"/>
            <a:ext cx="878687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Паспорт заполняется в соответствии с разделом 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II </a:t>
            </a: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Приложения №2 к Порядку. В паспорте указывается:</a:t>
            </a:r>
          </a:p>
          <a:p>
            <a:endParaRPr lang="ru-RU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r>
              <a:rPr lang="ru-RU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</a:t>
            </a:r>
            <a:r>
              <a:rPr lang="ru-RU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i="1" dirty="0" smtClean="0"/>
              <a:t>Наименование социально ориентированной некоммерческой организации (полное и сокращенное)</a:t>
            </a:r>
          </a:p>
          <a:p>
            <a:pPr algn="just"/>
            <a:r>
              <a:rPr lang="ru-RU" sz="2000" i="1" dirty="0" smtClean="0"/>
              <a:t>2. Юридический адрес и фактический почтовый адрес</a:t>
            </a:r>
          </a:p>
          <a:p>
            <a:pPr algn="just"/>
            <a:r>
              <a:rPr lang="ru-RU" sz="2000" i="1" dirty="0" smtClean="0"/>
              <a:t>3. Номер и дата государственной регистрации</a:t>
            </a:r>
          </a:p>
          <a:p>
            <a:pPr algn="just"/>
            <a:r>
              <a:rPr lang="ru-RU" sz="2000" i="1" dirty="0" smtClean="0"/>
              <a:t>4. Адрес электронной почты</a:t>
            </a:r>
          </a:p>
          <a:p>
            <a:pPr algn="just"/>
            <a:r>
              <a:rPr lang="ru-RU" sz="2000" i="1" dirty="0" smtClean="0"/>
              <a:t>5. Контактный телефон</a:t>
            </a:r>
          </a:p>
          <a:p>
            <a:pPr algn="just"/>
            <a:r>
              <a:rPr lang="ru-RU" sz="2000" i="1" dirty="0" smtClean="0"/>
              <a:t>6. Банковские реквизиты</a:t>
            </a:r>
          </a:p>
          <a:p>
            <a:pPr algn="just"/>
            <a:r>
              <a:rPr lang="ru-RU" sz="2000" i="1" dirty="0" smtClean="0"/>
              <a:t>7. Данные о руководителе организации (ФИО, год рождения, образование, опыт работы и т.д.)</a:t>
            </a:r>
          </a:p>
          <a:p>
            <a:pPr algn="just"/>
            <a:r>
              <a:rPr lang="ru-RU" sz="2000" i="1" dirty="0" smtClean="0"/>
              <a:t>8. Фамилия, имя, отчество главного бухгалтера (при наличии), контактный телефон</a:t>
            </a:r>
          </a:p>
          <a:p>
            <a:pPr algn="just"/>
            <a:endParaRPr lang="ru-RU" sz="1000" i="1" dirty="0" smtClean="0"/>
          </a:p>
          <a:p>
            <a:r>
              <a:rPr lang="ru-RU" sz="2000" i="1" dirty="0" smtClean="0">
                <a:solidFill>
                  <a:srgbClr val="FF0000"/>
                </a:solidFill>
              </a:rPr>
              <a:t>В случае установления недостоверности представленных сведений и документов соискатель отстраняется от участия в конкурсе на любом этапе его проведения</a:t>
            </a:r>
            <a:endParaRPr lang="ru-RU" sz="20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805235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214414" y="214291"/>
            <a:ext cx="7786742" cy="824508"/>
          </a:xfrm>
          <a:prstGeom prst="rect">
            <a:avLst/>
          </a:prstGeom>
        </p:spPr>
        <p:txBody>
          <a:bodyPr anchor="ctr" anchorCtr="0"/>
          <a:lstStyle/>
          <a:p>
            <a:pPr>
              <a:lnSpc>
                <a:spcPct val="80000"/>
              </a:lnSpc>
            </a:pPr>
            <a:endParaRPr lang="ru-RU" sz="2500" b="1" dirty="0" smtClean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Информация о социально </a:t>
            </a:r>
          </a:p>
          <a:p>
            <a:pPr algn="ctr">
              <a:lnSpc>
                <a:spcPct val="80000"/>
              </a:lnSpc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ориентированной некоммерческой организации</a:t>
            </a:r>
            <a:endParaRPr lang="ru-RU" sz="25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2844" y="1357298"/>
            <a:ext cx="8786874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Информация о социально ориентированной некоммерческой организации заполняется в соответствии с разделом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III </a:t>
            </a: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Приложения №2 к Порядку, где указывается:</a:t>
            </a:r>
          </a:p>
          <a:p>
            <a:pPr algn="just"/>
            <a:endParaRPr lang="ru-RU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r>
              <a:rPr lang="ru-RU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</a:t>
            </a:r>
            <a:r>
              <a:rPr lang="ru-RU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Т</a:t>
            </a:r>
            <a:r>
              <a:rPr lang="ru-RU" sz="2000" i="1" dirty="0" smtClean="0"/>
              <a:t>ерритории, в которых были реализованы проекты</a:t>
            </a:r>
          </a:p>
          <a:p>
            <a:pPr algn="just"/>
            <a:r>
              <a:rPr lang="ru-RU" sz="2000" i="1" dirty="0" smtClean="0"/>
              <a:t>2. Опыт осуществления  проектной деятельности</a:t>
            </a:r>
          </a:p>
          <a:p>
            <a:pPr algn="just"/>
            <a:r>
              <a:rPr lang="ru-RU" sz="2000" i="1" dirty="0" smtClean="0"/>
              <a:t>3. Наличие материально-технической базы и помещений</a:t>
            </a:r>
          </a:p>
          <a:p>
            <a:pPr algn="just"/>
            <a:r>
              <a:rPr lang="ru-RU" sz="2000" i="1" dirty="0" smtClean="0"/>
              <a:t>4. Опыт использования целевых поступлений;</a:t>
            </a:r>
          </a:p>
          <a:p>
            <a:pPr algn="just"/>
            <a:r>
              <a:rPr lang="ru-RU" sz="2000" i="1" dirty="0" smtClean="0"/>
              <a:t>5. Наличие партнерских отношений с органами государственной власти, местного самоуправления и с другими организациями</a:t>
            </a:r>
          </a:p>
          <a:p>
            <a:pPr algn="just"/>
            <a:r>
              <a:rPr lang="ru-RU" sz="2000" i="1" dirty="0" smtClean="0"/>
              <a:t>6. Наличие информации о деятельности социально ориентированной некоммерческой организации в сети Интернет и СМИ</a:t>
            </a:r>
          </a:p>
          <a:p>
            <a:pPr algn="just"/>
            <a:r>
              <a:rPr lang="ru-RU" sz="2000" i="1" dirty="0" smtClean="0"/>
              <a:t>7. Дополнительные источники финансирования;</a:t>
            </a:r>
          </a:p>
          <a:p>
            <a:pPr algn="just"/>
            <a:r>
              <a:rPr lang="ru-RU" sz="2000" i="1" dirty="0" smtClean="0"/>
              <a:t>8. Информация об участии в конкурсах на получение различного рода грантов</a:t>
            </a: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805235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214414" y="214291"/>
            <a:ext cx="7786742" cy="824508"/>
          </a:xfrm>
          <a:prstGeom prst="rect">
            <a:avLst/>
          </a:prstGeom>
        </p:spPr>
        <p:txBody>
          <a:bodyPr anchor="ctr" anchorCtr="0"/>
          <a:lstStyle/>
          <a:p>
            <a:pPr>
              <a:lnSpc>
                <a:spcPct val="80000"/>
              </a:lnSpc>
            </a:pPr>
            <a:endParaRPr lang="ru-RU" sz="2500" b="1" dirty="0" smtClean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Информация об исполнителях проекта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2844" y="1778865"/>
            <a:ext cx="878687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Информация представляется отдельно по каждому исполнителю проекта, где указывается:</a:t>
            </a:r>
          </a:p>
          <a:p>
            <a:pPr algn="just"/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ru-RU" sz="2000" i="1" dirty="0" smtClean="0"/>
              <a:t>1. Фамилия, имя, отчество, наименование должности исполнителя проекта в социально ориентированной организации</a:t>
            </a:r>
          </a:p>
          <a:p>
            <a:r>
              <a:rPr lang="ru-RU" sz="2000" i="1" dirty="0" smtClean="0"/>
              <a:t>2. Основные функции, квалификация, образование, опыт работы в проектной деятельности</a:t>
            </a:r>
          </a:p>
          <a:p>
            <a:r>
              <a:rPr lang="ru-RU" sz="2000" i="1" dirty="0" smtClean="0"/>
              <a:t>3. Контактные данные (адрес, телефон)</a:t>
            </a:r>
            <a:endParaRPr lang="ru-RU" sz="2000" dirty="0" smtClean="0"/>
          </a:p>
          <a:p>
            <a:pPr algn="just">
              <a:lnSpc>
                <a:spcPct val="8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-457200">
              <a:lnSpc>
                <a:spcPct val="8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-457200">
              <a:lnSpc>
                <a:spcPct val="8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805235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214414" y="214291"/>
            <a:ext cx="7786742" cy="824508"/>
          </a:xfrm>
          <a:prstGeom prst="rect">
            <a:avLst/>
          </a:prstGeom>
        </p:spPr>
        <p:txBody>
          <a:bodyPr anchor="ctr" anchorCtr="0"/>
          <a:lstStyle/>
          <a:p>
            <a:pPr>
              <a:lnSpc>
                <a:spcPct val="80000"/>
              </a:lnSpc>
            </a:pPr>
            <a:endParaRPr lang="ru-RU" sz="2500" b="1" dirty="0" smtClean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Консультации по вопросам подготовки заявок на участие в конкурсе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2214554"/>
            <a:ext cx="91440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altLang="ru-RU" sz="2000" b="1" dirty="0" smtClean="0">
                <a:solidFill>
                  <a:srgbClr val="990033"/>
                </a:solidFill>
              </a:rPr>
              <a:t>Методические рекомендации</a:t>
            </a:r>
          </a:p>
          <a:p>
            <a:pPr algn="ctr">
              <a:defRPr/>
            </a:pPr>
            <a:r>
              <a:rPr lang="ru-RU" altLang="ru-RU" sz="2000" b="1" dirty="0" smtClean="0">
                <a:solidFill>
                  <a:srgbClr val="990033"/>
                </a:solidFill>
              </a:rPr>
              <a:t>подготовлены департаментом внутренней политики</a:t>
            </a:r>
          </a:p>
          <a:p>
            <a:pPr algn="ctr">
              <a:defRPr/>
            </a:pPr>
            <a:r>
              <a:rPr lang="ru-RU" altLang="ru-RU" sz="2000" b="1" dirty="0" smtClean="0">
                <a:solidFill>
                  <a:srgbClr val="990033"/>
                </a:solidFill>
              </a:rPr>
              <a:t>Ямало-Ненецкого автономного округа </a:t>
            </a:r>
          </a:p>
          <a:p>
            <a:pPr algn="ctr">
              <a:defRPr/>
            </a:pPr>
            <a:endParaRPr lang="ru-RU" sz="1600" b="1" dirty="0" smtClean="0">
              <a:solidFill>
                <a:srgbClr val="00669B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57158" y="3605759"/>
            <a:ext cx="84560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2000" b="1" dirty="0" smtClean="0"/>
              <a:t>Контактные телефоны </a:t>
            </a:r>
          </a:p>
          <a:p>
            <a:pPr algn="just">
              <a:defRPr/>
            </a:pPr>
            <a:r>
              <a:rPr lang="ru-RU" sz="2000" b="1" dirty="0" smtClean="0"/>
              <a:t>для получения консультаций</a:t>
            </a:r>
            <a:r>
              <a:rPr lang="ru-RU" sz="2000" dirty="0" smtClean="0"/>
              <a:t> </a:t>
            </a:r>
            <a:r>
              <a:rPr lang="ru-RU" sz="2000" b="1" dirty="0" smtClean="0"/>
              <a:t>по вопросам подготовки заявок</a:t>
            </a:r>
            <a:r>
              <a:rPr lang="ru-RU" sz="2000" dirty="0" smtClean="0"/>
              <a:t>: </a:t>
            </a:r>
          </a:p>
          <a:p>
            <a:pPr algn="just">
              <a:defRPr/>
            </a:pPr>
            <a:endParaRPr lang="ru-RU" sz="2000" dirty="0" smtClean="0"/>
          </a:p>
          <a:p>
            <a:pPr algn="just">
              <a:defRPr/>
            </a:pPr>
            <a:r>
              <a:rPr lang="ru-RU" sz="2000" dirty="0" smtClean="0"/>
              <a:t>8/34922/2-42-66, 8/34922/2-42-69</a:t>
            </a:r>
            <a:endParaRPr lang="ru-RU" sz="2000" b="1" dirty="0" smtClean="0">
              <a:solidFill>
                <a:srgbClr val="00669B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805235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1">
  <a:themeElements>
    <a:clrScheme name="9_Оформление по умолчанию 1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CC"/>
      </a:hlink>
      <a:folHlink>
        <a:srgbClr val="33CCFF"/>
      </a:folHlink>
    </a:clrScheme>
    <a:fontScheme name="9_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3CC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CC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CC"/>
        </a:hlink>
        <a:folHlink>
          <a:srgbClr val="33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Тема1">
  <a:themeElements>
    <a:clrScheme name="9_Оформление по умолчанию 1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CC"/>
      </a:hlink>
      <a:folHlink>
        <a:srgbClr val="33CCFF"/>
      </a:folHlink>
    </a:clrScheme>
    <a:fontScheme name="9_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3CC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CC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CC"/>
        </a:hlink>
        <a:folHlink>
          <a:srgbClr val="33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2481</TotalTime>
  <Words>1191</Words>
  <Application>Microsoft Office PowerPoint</Application>
  <PresentationFormat>Экран (4:3)</PresentationFormat>
  <Paragraphs>192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Тема1</vt:lpstr>
      <vt:lpstr>1_Тема1</vt:lpstr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Государственная национальная политика</dc:title>
  <dc:creator>Захаров Алексей Александрович</dc:creator>
  <cp:lastModifiedBy>iwanova_en</cp:lastModifiedBy>
  <cp:revision>339</cp:revision>
  <dcterms:created xsi:type="dcterms:W3CDTF">2015-02-19T14:11:47Z</dcterms:created>
  <dcterms:modified xsi:type="dcterms:W3CDTF">2017-02-07T10:43:59Z</dcterms:modified>
</cp:coreProperties>
</file>