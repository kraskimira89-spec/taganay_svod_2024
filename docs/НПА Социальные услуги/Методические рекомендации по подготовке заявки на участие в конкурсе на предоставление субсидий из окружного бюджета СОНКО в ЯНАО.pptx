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845" r:id="rId2"/>
    <p:sldMasterId id="2147483850" r:id="rId3"/>
  </p:sldMasterIdLst>
  <p:notesMasterIdLst>
    <p:notesMasterId r:id="rId15"/>
  </p:notesMasterIdLst>
  <p:sldIdLst>
    <p:sldId id="260" r:id="rId4"/>
    <p:sldId id="301" r:id="rId5"/>
    <p:sldId id="299" r:id="rId6"/>
    <p:sldId id="300" r:id="rId7"/>
    <p:sldId id="257" r:id="rId8"/>
    <p:sldId id="258" r:id="rId9"/>
    <p:sldId id="293" r:id="rId10"/>
    <p:sldId id="303" r:id="rId11"/>
    <p:sldId id="294" r:id="rId12"/>
    <p:sldId id="295" r:id="rId13"/>
    <p:sldId id="304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3D3F8F"/>
    <a:srgbClr val="B7ECFF"/>
    <a:srgbClr val="3EC0C6"/>
    <a:srgbClr val="66FF33"/>
    <a:srgbClr val="6EA0B0"/>
    <a:srgbClr val="005A9E"/>
    <a:srgbClr val="FF33CC"/>
    <a:srgbClr val="FF66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058" autoAdjust="0"/>
    <p:restoredTop sz="94749" autoAdjust="0"/>
  </p:normalViewPr>
  <p:slideViewPr>
    <p:cSldViewPr>
      <p:cViewPr>
        <p:scale>
          <a:sx n="100" d="100"/>
          <a:sy n="100" d="100"/>
        </p:scale>
        <p:origin x="-636" y="4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C9FC27-4321-47A0-8702-8086312521C0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6E2D3-41AF-4C97-AAB2-E3055120F2A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37325"/>
            <a:ext cx="2895600" cy="3206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B106E36-FD25-4E2D-B0AA-010F637433A0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537325"/>
            <a:ext cx="2819400" cy="3206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581400" y="6537325"/>
            <a:ext cx="2286000" cy="3206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56404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537325"/>
            <a:ext cx="2895600" cy="3206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5B106E36-FD25-4E2D-B0AA-010F637433A0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6172200" y="6537325"/>
            <a:ext cx="2819400" cy="3206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581400" y="6537325"/>
            <a:ext cx="2286000" cy="32067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56404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407976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0085373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96080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572233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728418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80966691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16249826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204584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7025224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1875976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BFCFA-BD30-41ED-A67A-BA0010EFE772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8975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1" y="1412876"/>
            <a:ext cx="84963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Образец </a:t>
            </a:r>
            <a:br>
              <a:rPr lang="ru-RU" dirty="0" smtClean="0"/>
            </a:br>
            <a:r>
              <a:rPr lang="ru-RU" dirty="0" smtClean="0"/>
              <a:t>текста</a:t>
            </a:r>
            <a:r>
              <a:rPr lang="en-US" dirty="0" smtClean="0"/>
              <a:t> </a:t>
            </a:r>
            <a:endParaRPr lang="ru-RU" dirty="0" smtClean="0"/>
          </a:p>
          <a:p>
            <a:pPr lvl="0"/>
            <a:r>
              <a:rPr lang="ru-RU" dirty="0" smtClean="0"/>
              <a:t>Образец </a:t>
            </a:r>
            <a:br>
              <a:rPr lang="ru-RU" dirty="0" smtClean="0"/>
            </a:br>
            <a:r>
              <a:rPr lang="ru-RU" dirty="0" smtClean="0"/>
              <a:t>текста</a:t>
            </a:r>
          </a:p>
          <a:p>
            <a:pPr lvl="1"/>
            <a:r>
              <a:rPr lang="ru-RU" dirty="0" smtClean="0"/>
              <a:t>Второй уровень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10772" y="214291"/>
            <a:ext cx="8715405" cy="824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Заголовок</a:t>
            </a:r>
          </a:p>
        </p:txBody>
      </p:sp>
      <p:pic>
        <p:nvPicPr>
          <p:cNvPr id="148484" name="Picture 4" descr="C:\Documents and Settings\pc118\Мои документы\!02_Проекты - презентации\Дизайн для учебной презентации\spark\line.png"/>
          <p:cNvPicPr>
            <a:picLocks noChangeAspect="1" noChangeArrowheads="1"/>
          </p:cNvPicPr>
          <p:nvPr/>
        </p:nvPicPr>
        <p:blipFill>
          <a:blip r:embed="rId6" cstate="print"/>
          <a:srcRect r="1505" b="22279"/>
          <a:stretch>
            <a:fillRect/>
          </a:stretch>
        </p:blipFill>
        <p:spPr bwMode="auto">
          <a:xfrm>
            <a:off x="66675" y="1078958"/>
            <a:ext cx="9077325" cy="13546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</p:sldLayoutIdLst>
  <p:transition spd="med">
    <p:wipe dir="r"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0" baseline="0">
          <a:solidFill>
            <a:srgbClr val="3D3F8F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266700" indent="-266700" algn="l" rtl="0" eaLnBrk="1" fontAlgn="base" hangingPunct="1">
        <a:lnSpc>
          <a:spcPct val="90000"/>
        </a:lnSpc>
        <a:spcBef>
          <a:spcPts val="1200"/>
        </a:spcBef>
        <a:spcAft>
          <a:spcPct val="0"/>
        </a:spcAft>
        <a:buSzPct val="80000"/>
        <a:buFontTx/>
        <a:buBlip>
          <a:blip r:embed="rId7"/>
        </a:buBlip>
        <a:defRPr sz="2400" baseline="0">
          <a:solidFill>
            <a:srgbClr val="333333"/>
          </a:solidFill>
          <a:latin typeface="Calibri" pitchFamily="34" charset="0"/>
          <a:ea typeface="+mn-ea"/>
          <a:cs typeface="+mn-cs"/>
        </a:defRPr>
      </a:lvl1pPr>
      <a:lvl2pPr marL="622300" indent="-258763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400">
          <a:solidFill>
            <a:srgbClr val="333333"/>
          </a:solidFill>
          <a:latin typeface="Calibri" pitchFamily="34" charset="0"/>
        </a:defRPr>
      </a:lvl2pPr>
      <a:lvl3pPr marL="1065213" indent="-357188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400">
          <a:solidFill>
            <a:srgbClr val="666666"/>
          </a:solidFill>
          <a:latin typeface="Calibri" pitchFamily="34" charset="0"/>
        </a:defRPr>
      </a:lvl3pPr>
      <a:lvl4pPr marL="1435100" indent="-3683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000">
          <a:solidFill>
            <a:srgbClr val="666666"/>
          </a:solidFill>
          <a:latin typeface="Calibri" pitchFamily="34" charset="0"/>
        </a:defRPr>
      </a:lvl4pPr>
      <a:lvl5pPr marL="18176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000">
          <a:solidFill>
            <a:srgbClr val="666666"/>
          </a:solidFill>
          <a:latin typeface="Calibri" pitchFamily="34" charset="0"/>
        </a:defRPr>
      </a:lvl5pPr>
      <a:lvl6pPr marL="22748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000">
          <a:solidFill>
            <a:srgbClr val="666666"/>
          </a:solidFill>
          <a:latin typeface="+mn-lt"/>
        </a:defRPr>
      </a:lvl6pPr>
      <a:lvl7pPr marL="27320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000">
          <a:solidFill>
            <a:srgbClr val="666666"/>
          </a:solidFill>
          <a:latin typeface="+mn-lt"/>
        </a:defRPr>
      </a:lvl7pPr>
      <a:lvl8pPr marL="31892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000">
          <a:solidFill>
            <a:srgbClr val="666666"/>
          </a:solidFill>
          <a:latin typeface="+mn-lt"/>
        </a:defRPr>
      </a:lvl8pPr>
      <a:lvl9pPr marL="36464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8"/>
        </a:buBlip>
        <a:defRPr sz="2000">
          <a:solidFill>
            <a:srgbClr val="666666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6" cstate="print">
            <a:lum/>
          </a:blip>
          <a:srcRect/>
          <a:stretch>
            <a:fillRect l="-1000" t="-1000" r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1" y="1412876"/>
            <a:ext cx="84963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Образец </a:t>
            </a:r>
            <a:br>
              <a:rPr lang="ru-RU" dirty="0" smtClean="0"/>
            </a:br>
            <a:r>
              <a:rPr lang="ru-RU" dirty="0" smtClean="0"/>
              <a:t>текста</a:t>
            </a:r>
            <a:r>
              <a:rPr lang="en-US" dirty="0" smtClean="0"/>
              <a:t> </a:t>
            </a:r>
            <a:endParaRPr lang="ru-RU" dirty="0" smtClean="0"/>
          </a:p>
          <a:p>
            <a:pPr lvl="0"/>
            <a:r>
              <a:rPr lang="ru-RU" dirty="0" smtClean="0"/>
              <a:t>Образец </a:t>
            </a:r>
            <a:br>
              <a:rPr lang="ru-RU" dirty="0" smtClean="0"/>
            </a:br>
            <a:r>
              <a:rPr lang="ru-RU" dirty="0" smtClean="0"/>
              <a:t>текста</a:t>
            </a:r>
          </a:p>
          <a:p>
            <a:pPr lvl="1"/>
            <a:r>
              <a:rPr lang="ru-RU" dirty="0" smtClean="0"/>
              <a:t>Второй уровень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10772" y="214291"/>
            <a:ext cx="8715405" cy="824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 smtClean="0"/>
              <a:t>Заголовок</a:t>
            </a:r>
          </a:p>
        </p:txBody>
      </p:sp>
      <p:pic>
        <p:nvPicPr>
          <p:cNvPr id="148484" name="Picture 4" descr="C:\Documents and Settings\pc118\Мои документы\!02_Проекты - презентации\Дизайн для учебной презентации\spark\line.png"/>
          <p:cNvPicPr>
            <a:picLocks noChangeAspect="1" noChangeArrowheads="1"/>
          </p:cNvPicPr>
          <p:nvPr/>
        </p:nvPicPr>
        <p:blipFill>
          <a:blip r:embed="rId7" cstate="print"/>
          <a:srcRect r="1505" b="22279"/>
          <a:stretch>
            <a:fillRect/>
          </a:stretch>
        </p:blipFill>
        <p:spPr bwMode="auto">
          <a:xfrm>
            <a:off x="66675" y="1078958"/>
            <a:ext cx="9077325" cy="13546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</p:sldLayoutIdLst>
  <p:transition spd="med">
    <p:wipe dir="r"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600" b="0" baseline="0">
          <a:solidFill>
            <a:srgbClr val="3D3F8F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266700" indent="-266700" algn="l" rtl="0" eaLnBrk="1" fontAlgn="base" hangingPunct="1">
        <a:lnSpc>
          <a:spcPct val="90000"/>
        </a:lnSpc>
        <a:spcBef>
          <a:spcPts val="1200"/>
        </a:spcBef>
        <a:spcAft>
          <a:spcPct val="0"/>
        </a:spcAft>
        <a:buSzPct val="80000"/>
        <a:buFontTx/>
        <a:buBlip>
          <a:blip r:embed="rId8"/>
        </a:buBlip>
        <a:defRPr sz="2400" baseline="0">
          <a:solidFill>
            <a:srgbClr val="333333"/>
          </a:solidFill>
          <a:latin typeface="Calibri" pitchFamily="34" charset="0"/>
          <a:ea typeface="+mn-ea"/>
          <a:cs typeface="+mn-cs"/>
        </a:defRPr>
      </a:lvl1pPr>
      <a:lvl2pPr marL="622300" indent="-258763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400">
          <a:solidFill>
            <a:srgbClr val="333333"/>
          </a:solidFill>
          <a:latin typeface="Calibri" pitchFamily="34" charset="0"/>
        </a:defRPr>
      </a:lvl2pPr>
      <a:lvl3pPr marL="1065213" indent="-357188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400">
          <a:solidFill>
            <a:srgbClr val="666666"/>
          </a:solidFill>
          <a:latin typeface="Calibri" pitchFamily="34" charset="0"/>
        </a:defRPr>
      </a:lvl3pPr>
      <a:lvl4pPr marL="1435100" indent="-3683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000">
          <a:solidFill>
            <a:srgbClr val="666666"/>
          </a:solidFill>
          <a:latin typeface="Calibri" pitchFamily="34" charset="0"/>
        </a:defRPr>
      </a:lvl4pPr>
      <a:lvl5pPr marL="18176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000">
          <a:solidFill>
            <a:srgbClr val="666666"/>
          </a:solidFill>
          <a:latin typeface="Calibri" pitchFamily="34" charset="0"/>
        </a:defRPr>
      </a:lvl5pPr>
      <a:lvl6pPr marL="22748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000">
          <a:solidFill>
            <a:srgbClr val="666666"/>
          </a:solidFill>
          <a:latin typeface="+mn-lt"/>
        </a:defRPr>
      </a:lvl6pPr>
      <a:lvl7pPr marL="27320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000">
          <a:solidFill>
            <a:srgbClr val="666666"/>
          </a:solidFill>
          <a:latin typeface="+mn-lt"/>
        </a:defRPr>
      </a:lvl7pPr>
      <a:lvl8pPr marL="31892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000">
          <a:solidFill>
            <a:srgbClr val="666666"/>
          </a:solidFill>
          <a:latin typeface="+mn-lt"/>
        </a:defRPr>
      </a:lvl8pPr>
      <a:lvl9pPr marL="3646488" indent="-381000" algn="l" rtl="0" eaLnBrk="1" fontAlgn="base" hangingPunct="1">
        <a:spcBef>
          <a:spcPct val="20000"/>
        </a:spcBef>
        <a:spcAft>
          <a:spcPct val="0"/>
        </a:spcAft>
        <a:buSzPct val="50000"/>
        <a:buBlip>
          <a:blip r:embed="rId9"/>
        </a:buBlip>
        <a:defRPr sz="2000">
          <a:solidFill>
            <a:srgbClr val="666666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BFCFA-BD30-41ED-A67A-BA0010EFE772}" type="datetimeFigureOut">
              <a:rPr lang="ru-RU" smtClean="0"/>
              <a:pPr/>
              <a:t>06.02.2017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5AD92-E574-4759-8295-D0BBF3FD57B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39160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</p:sldLayoutIdLst>
  <p:transition spd="med">
    <p:wipe dir="r"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consultantplus://offline/ref=942F0DF61B1F6A1B40A55B364B29E4A4A69D8B98C8A8CE571EDC32A9BEF304D9pDe1E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konkurs.nko@mail.ru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Роман\Desktop\Безымянный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19425" y="0"/>
            <a:ext cx="6124575" cy="2781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1979712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>
            <a:outerShdw blurRad="76200" dist="76200" algn="l" rotWithShape="0">
              <a:schemeClr val="tx1"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2328352" y="301824"/>
            <a:ext cx="6165898" cy="824508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0" cap="none" spc="0" normalizeH="0" baseline="0" noProof="0" dirty="0">
              <a:ln w="12700" cmpd="sng">
                <a:solidFill>
                  <a:srgbClr val="FFFFFF"/>
                </a:solidFill>
                <a:prstDash val="solid"/>
              </a:ln>
              <a:solidFill>
                <a:srgbClr val="3D3F8F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11560" y="2775193"/>
            <a:ext cx="1152128" cy="1152128"/>
          </a:xfrm>
          <a:prstGeom prst="roundRect">
            <a:avLst/>
          </a:prstGeom>
          <a:blipFill>
            <a:blip r:embed="rId3" cstate="print"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611560" y="4011772"/>
            <a:ext cx="1152128" cy="1152128"/>
          </a:xfrm>
          <a:prstGeom prst="roundRect">
            <a:avLst/>
          </a:prstGeom>
          <a:blipFill>
            <a:blip r:embed="rId4" cstate="print"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771800" y="5733256"/>
            <a:ext cx="864096" cy="864096"/>
          </a:xfrm>
          <a:prstGeom prst="roundRect">
            <a:avLst/>
          </a:prstGeom>
          <a:blipFill>
            <a:blip r:embed="rId5" cstate="print"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1763688" y="5301208"/>
            <a:ext cx="864096" cy="864096"/>
          </a:xfrm>
          <a:prstGeom prst="roundRect">
            <a:avLst/>
          </a:prstGeom>
          <a:blipFill>
            <a:blip r:embed="rId6" cstate="print"/>
            <a:stretch>
              <a:fillRect/>
            </a:stretch>
          </a:blip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Скругленный прямоугольник 17"/>
          <p:cNvSpPr>
            <a:spLocks noChangeAspect="1"/>
          </p:cNvSpPr>
          <p:nvPr/>
        </p:nvSpPr>
        <p:spPr>
          <a:xfrm>
            <a:off x="1115616" y="2204864"/>
            <a:ext cx="432048" cy="432048"/>
          </a:xfrm>
          <a:prstGeom prst="roundRect">
            <a:avLst/>
          </a:prstGeom>
          <a:solidFill>
            <a:srgbClr val="6EA0B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Скругленный прямоугольник 18"/>
          <p:cNvSpPr>
            <a:spLocks noChangeAspect="1"/>
          </p:cNvSpPr>
          <p:nvPr/>
        </p:nvSpPr>
        <p:spPr>
          <a:xfrm>
            <a:off x="1619672" y="2276872"/>
            <a:ext cx="432048" cy="432048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Скругленный прямоугольник 19"/>
          <p:cNvSpPr>
            <a:spLocks noChangeAspect="1"/>
          </p:cNvSpPr>
          <p:nvPr/>
        </p:nvSpPr>
        <p:spPr>
          <a:xfrm>
            <a:off x="1879251" y="4731852"/>
            <a:ext cx="432048" cy="432048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Скругленный прямоугольник 20"/>
          <p:cNvSpPr>
            <a:spLocks noChangeAspect="1"/>
          </p:cNvSpPr>
          <p:nvPr/>
        </p:nvSpPr>
        <p:spPr>
          <a:xfrm>
            <a:off x="1201780" y="5301208"/>
            <a:ext cx="432048" cy="4320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2428860" y="2571744"/>
            <a:ext cx="6408712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C00000"/>
                </a:solidFill>
              </a:rPr>
              <a:t>П</a:t>
            </a:r>
            <a:r>
              <a:rPr lang="ru-RU" sz="2800" b="1" dirty="0" smtClean="0">
                <a:solidFill>
                  <a:srgbClr val="C00000"/>
                </a:solidFill>
              </a:rPr>
              <a:t>ОДГОТОВКА ЗАЯВКИ </a:t>
            </a:r>
          </a:p>
          <a:p>
            <a:pPr algn="ctr"/>
            <a:r>
              <a:rPr lang="ru-RU" sz="2800" b="1" dirty="0" smtClean="0">
                <a:solidFill>
                  <a:srgbClr val="C00000"/>
                </a:solidFill>
              </a:rPr>
              <a:t>НА УЧАСТИЕ В КОНКУРСЕ </a:t>
            </a:r>
          </a:p>
          <a:p>
            <a:pPr algn="ctr"/>
            <a:r>
              <a:rPr lang="ru-RU" sz="2800" b="1" dirty="0" smtClean="0">
                <a:solidFill>
                  <a:srgbClr val="C00000"/>
                </a:solidFill>
              </a:rPr>
              <a:t>на предоставление субсидий из окружного бюджета социально ориентированным некоммерческим организациям в Ямало-Ненецком автономном округе </a:t>
            </a:r>
          </a:p>
          <a:p>
            <a:pPr algn="ctr"/>
            <a:r>
              <a:rPr lang="ru-RU" sz="1600" b="1" dirty="0" smtClean="0">
                <a:solidFill>
                  <a:srgbClr val="C00000"/>
                </a:solidFill>
              </a:rPr>
              <a:t>(в соответствии с постановлением Правительства ЯНАО </a:t>
            </a:r>
          </a:p>
          <a:p>
            <a:pPr algn="ctr"/>
            <a:r>
              <a:rPr lang="ru-RU" sz="1600" b="1" dirty="0" smtClean="0">
                <a:solidFill>
                  <a:srgbClr val="C00000"/>
                </a:solidFill>
              </a:rPr>
              <a:t>от 23 декабря 2011 года № 988-П)</a:t>
            </a:r>
            <a:endParaRPr lang="ru-RU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23" name="Рисунок 8" descr="C:\Documents and Settings\ardyshev_av\Local Settings\Temporary Internet Files\Content.Word\цвет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496" y="55340"/>
            <a:ext cx="1368152" cy="903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59046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000100" y="214290"/>
            <a:ext cx="7572428" cy="824509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1265" name="Rectangle 1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642910" y="285728"/>
            <a:ext cx="8286809" cy="1857388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smtClean="0">
                <a:solidFill>
                  <a:srgbClr val="FF0000"/>
                </a:solidFill>
                <a:cs typeface="Calibri" pitchFamily="34" charset="0"/>
              </a:rPr>
              <a:t>                                </a:t>
            </a:r>
            <a:r>
              <a:rPr lang="ru-RU" sz="2400" b="1" dirty="0" smtClean="0">
                <a:solidFill>
                  <a:srgbClr val="C00000"/>
                </a:solidFill>
                <a:cs typeface="Calibri" pitchFamily="34" charset="0"/>
              </a:rPr>
              <a:t>Участники конкурса</a:t>
            </a:r>
            <a:r>
              <a:rPr lang="ru-RU" sz="2400" dirty="0" smtClean="0">
                <a:solidFill>
                  <a:srgbClr val="FF0000"/>
                </a:solidFill>
                <a:cs typeface="Calibri" pitchFamily="34" charset="0"/>
              </a:rPr>
              <a:t/>
            </a:r>
            <a:br>
              <a:rPr lang="ru-RU" sz="2400" dirty="0" smtClean="0">
                <a:solidFill>
                  <a:srgbClr val="FF0000"/>
                </a:solidFill>
                <a:cs typeface="Calibri" pitchFamily="34" charset="0"/>
              </a:rPr>
            </a:b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Конкурс проводится среди социально ориентированных некоммерческих организаций. Некоммерческая организация считается социально ориентированной, в случае осуществления в соответствии с Уставом одного или нескольких видов деятельности:</a:t>
            </a:r>
            <a:r>
              <a:rPr lang="ru-RU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Содержимое 30"/>
          <p:cNvSpPr>
            <a:spLocks noGrp="1"/>
          </p:cNvSpPr>
          <p:nvPr>
            <p:ph sz="half" idx="4294967295"/>
          </p:nvPr>
        </p:nvSpPr>
        <p:spPr>
          <a:xfrm>
            <a:off x="4572000" y="3143248"/>
            <a:ext cx="4254502" cy="3308346"/>
          </a:xfrm>
          <a:ln>
            <a:solidFill>
              <a:srgbClr val="008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34290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б) утвержденных Законом Ямало-Ненецкого автономного округа от 25 ноября 2011 года №129-ЗАО «О видах деятельности некоммерческих организаций для признания их социально ориентированными в Ямало-Ненецком автономном округе»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Содержимое 28"/>
          <p:cNvSpPr>
            <a:spLocks noGrp="1"/>
          </p:cNvSpPr>
          <p:nvPr>
            <p:ph type="subTitle" idx="4294967295"/>
          </p:nvPr>
        </p:nvSpPr>
        <p:spPr>
          <a:xfrm>
            <a:off x="500034" y="3143248"/>
            <a:ext cx="3857652" cy="3286148"/>
          </a:xfr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а) предусмотренных статьей 31.1. Федерального закона от 26 декабря 2006 года №7-ФЗ «О некоммерческих организациях»</a:t>
            </a:r>
            <a:br>
              <a:rPr lang="ru-RU" sz="2000" dirty="0" smtClean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n>
                <a:solidFill>
                  <a:schemeClr val="tx1"/>
                </a:solidFill>
              </a:ln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000100" y="214290"/>
            <a:ext cx="7572428" cy="824509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1265" name="Rectangle 1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785918" y="142853"/>
            <a:ext cx="7143800" cy="1071569"/>
          </a:xfrm>
        </p:spPr>
        <p:txBody>
          <a:bodyPr>
            <a:noAutofit/>
          </a:bodyPr>
          <a:lstStyle/>
          <a:p>
            <a:pPr algn="ctr">
              <a:lnSpc>
                <a:spcPct val="80000"/>
              </a:lnSpc>
            </a:pPr>
            <a:r>
              <a:rPr lang="ru-RU" sz="2500" b="1" dirty="0" smtClean="0">
                <a:solidFill>
                  <a:srgbClr val="C00000"/>
                </a:solidFill>
                <a:cs typeface="Calibri" pitchFamily="34" charset="0"/>
              </a:rPr>
              <a:t>Виды </a:t>
            </a:r>
            <a:r>
              <a:rPr lang="ru-RU" sz="2400" b="1" dirty="0" smtClean="0">
                <a:solidFill>
                  <a:srgbClr val="C00000"/>
                </a:solidFill>
                <a:cs typeface="Calibri" pitchFamily="34" charset="0"/>
              </a:rPr>
              <a:t>деятельности</a:t>
            </a:r>
            <a:r>
              <a:rPr lang="ru-RU" sz="2500" b="1" dirty="0" smtClean="0">
                <a:solidFill>
                  <a:srgbClr val="C00000"/>
                </a:solidFill>
                <a:cs typeface="Calibri" pitchFamily="34" charset="0"/>
              </a:rPr>
              <a:t>, утвержденные статьей 31.1. Федерального закона от 12 января 1996 года </a:t>
            </a:r>
            <a:br>
              <a:rPr lang="ru-RU" sz="2500" b="1" dirty="0" smtClean="0">
                <a:solidFill>
                  <a:srgbClr val="C00000"/>
                </a:solidFill>
                <a:cs typeface="Calibri" pitchFamily="34" charset="0"/>
              </a:rPr>
            </a:br>
            <a:r>
              <a:rPr lang="ru-RU" sz="2500" b="1" dirty="0" smtClean="0">
                <a:solidFill>
                  <a:srgbClr val="C00000"/>
                </a:solidFill>
                <a:cs typeface="Calibri" pitchFamily="34" charset="0"/>
              </a:rPr>
              <a:t>№7-ФЗ «О некоммерческих организациях»:</a:t>
            </a:r>
            <a:r>
              <a:rPr lang="ru-RU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Содержимое 8"/>
          <p:cNvSpPr>
            <a:spLocks noGrp="1"/>
          </p:cNvSpPr>
          <p:nvPr>
            <p:ph type="subTitle" idx="1"/>
          </p:nvPr>
        </p:nvSpPr>
        <p:spPr>
          <a:xfrm>
            <a:off x="285720" y="1142984"/>
            <a:ext cx="8715436" cy="5572164"/>
          </a:xfrm>
        </p:spPr>
        <p:txBody>
          <a:bodyPr>
            <a:noAutofit/>
          </a:bodyPr>
          <a:lstStyle/>
          <a:p>
            <a:pPr marL="0" indent="450000" algn="just">
              <a:lnSpc>
                <a:spcPct val="80000"/>
              </a:lnSpc>
              <a:spcBef>
                <a:spcPts val="0"/>
              </a:spcBef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1) социальное обслуживание, социальная поддержка и защита граждан;</a:t>
            </a:r>
          </a:p>
          <a:p>
            <a:pPr marL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2) подготовка населения к преодолению последствий стихийных бедствий, экологических, техногенных или иных катастроф, к предотвращению несчастных случаев;</a:t>
            </a:r>
          </a:p>
          <a:p>
            <a:pPr marL="0" algn="just">
              <a:lnSpc>
                <a:spcPct val="80000"/>
              </a:lnSpc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3) оказание помощи пострадавшим в результате стихийных бедствий, экологических, техногенных или иных катастроф, социальных, национальных, религиозных конфликтов, беженцам и вынужденным переселенцам;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4) охрана окружающей среды и защита животных;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5) охрана и в соответствии с установленными требованиями содержание объектов (в том числе зданий, сооружений) и территорий, имеющих историческое, культовое, культурное или природоохранное значение, и мест захоронений;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6) оказание юридической помощи на безвозмездной или на льготной основе гражданам и некоммерческим организациям и правовое просвещение населения, деятельность по защите прав и свобод человека и гражданина;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7) профилактика социально опасных форм поведения граждан;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8) благотворительная деятельность, а также деятельность в области содействия благотворительности и добровольчества;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9) деятельность в области образования, просвещения, науки, культуры, искусства, здравоохранения, профилактики и охраны здоровья граждан, пропаганды здорового образа жизни, улучшения морально-психологического состояния граждан, физической культуры и спорта и содействие указанной деятельности, а также содействие духовному развитию личности;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10) формирование в обществе нетерпимости к коррупционному поведению;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11) развитие межнационального сотрудничества, сохранение и защита самобытности, культуры, языков и традиций народов РФ;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12) деятельность в сфере патриотического, в том числе военно-патриотического, воспитания граждан РФ;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13) проведение поисковой работы, направленной на выявление неизвестных воинских захоронений и </a:t>
            </a:r>
            <a:r>
              <a:rPr lang="ru-RU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непогребенных</a:t>
            </a: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останков защитников Отечества, установление имен погибших и пропавших без вести при защите Отечества;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14) участие в профилактике и (или) тушении пожаров и проведении аварийно-спасательных работ;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15) социальная и культурная адаптация и интеграция мигрантов;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16) мероприятия по медицинской реабилитации и социальной реабилитации, социальной и трудовой </a:t>
            </a:r>
            <a:r>
              <a:rPr lang="ru-RU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реинтеграции</a:t>
            </a: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лиц, осуществляющих незаконное потребление наркотических средств или психотропных веществ;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17) содействие повышению мобильности трудовых ресурсов;</a:t>
            </a:r>
          </a:p>
          <a:p>
            <a:pPr marL="0" algn="just">
              <a:spcBef>
                <a:spcPts val="0"/>
              </a:spcBef>
              <a:buNone/>
            </a:pPr>
            <a:endParaRPr lang="ru-RU" sz="5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spcBef>
                <a:spcPts val="0"/>
              </a:spcBef>
              <a:buNone/>
            </a:pPr>
            <a:r>
              <a:rPr lang="ru-RU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18) увековечение памяти жертв политических репрессий.</a:t>
            </a:r>
          </a:p>
          <a:p>
            <a:pPr algn="just"/>
            <a:endParaRPr lang="ru-RU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000100" y="214290"/>
            <a:ext cx="7572428" cy="824509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1265" name="Rectangle 1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643042" y="285728"/>
            <a:ext cx="7215238" cy="1071570"/>
          </a:xfrm>
        </p:spPr>
        <p:txBody>
          <a:bodyPr>
            <a:noAutofit/>
          </a:bodyPr>
          <a:lstStyle/>
          <a:p>
            <a:pPr algn="ctr">
              <a:lnSpc>
                <a:spcPct val="80000"/>
              </a:lnSpc>
            </a:pP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Виды деятельности, утвержденные Законом Ямало-Ненецкого автономного округа от </a:t>
            </a:r>
            <a:b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</a:b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25 ноября 2011 года №129-ЗАО </a:t>
            </a:r>
            <a:r>
              <a:rPr lang="ru-RU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Содержимое 8"/>
          <p:cNvSpPr>
            <a:spLocks noGrp="1"/>
          </p:cNvSpPr>
          <p:nvPr>
            <p:ph type="subTitle" idx="1"/>
          </p:nvPr>
        </p:nvSpPr>
        <p:spPr>
          <a:xfrm>
            <a:off x="714348" y="1500174"/>
            <a:ext cx="8286808" cy="4138626"/>
          </a:xfrm>
        </p:spPr>
        <p:txBody>
          <a:bodyPr>
            <a:normAutofit/>
          </a:bodyPr>
          <a:lstStyle/>
          <a:p>
            <a:pPr marL="0" indent="450000" algn="just">
              <a:spcBef>
                <a:spcPts val="0"/>
              </a:spcBef>
              <a:buNone/>
            </a:pPr>
            <a:endParaRPr lang="ru-RU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450000" algn="just">
              <a:spcBef>
                <a:spcPts val="0"/>
              </a:spcBef>
              <a:buNone/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1) развитие детского и молодежного общественного движения, поддержка детских, молодежных общественных объединений и общественных объединений, работающих с детьми и молодежью;</a:t>
            </a:r>
          </a:p>
          <a:p>
            <a:pPr marL="0" indent="450000" algn="just">
              <a:spcBef>
                <a:spcPts val="0"/>
              </a:spcBef>
              <a:buNone/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450000" algn="just">
              <a:spcBef>
                <a:spcPts val="0"/>
              </a:spcBef>
              <a:buNone/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2) содействие развитию туризма в автономном округе в соответствии с направлениями, предусмотренными Законом ЯНАО от 03 декабря 2007 года №114-ЗАО «О туристской деятельности в Ямало-Ненецком автономном округе»;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3"/>
            </a:endParaRPr>
          </a:p>
          <a:p>
            <a:pPr marL="0" indent="450000" algn="just">
              <a:spcBef>
                <a:spcPts val="0"/>
              </a:spcBef>
              <a:buNone/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450000" algn="just">
              <a:spcBef>
                <a:spcPts val="0"/>
              </a:spcBef>
              <a:buNone/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3) деятельность по защите исконной среды обитания, сохранению и развитию традиционного образа жизни, хозяйствования, промыслов и культуры коренных малочисленных народов Севера.</a:t>
            </a:r>
          </a:p>
          <a:p>
            <a:endParaRPr lang="ru-RU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214414" y="214291"/>
            <a:ext cx="7715304" cy="824508"/>
          </a:xfrm>
          <a:prstGeom prst="rect">
            <a:avLst/>
          </a:prstGeom>
        </p:spPr>
        <p:txBody>
          <a:bodyPr anchor="ctr" anchorCtr="0"/>
          <a:lstStyle/>
          <a:p>
            <a:pPr lvl="0"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000" b="1" kern="0" dirty="0" smtClean="0">
                <a:solidFill>
                  <a:srgbClr val="C00000"/>
                </a:solidFill>
                <a:latin typeface="Calibri" pitchFamily="34" charset="0"/>
                <a:ea typeface="+mj-ea"/>
                <a:cs typeface="+mj-cs"/>
              </a:rPr>
              <a:t>Перечень документов, </a:t>
            </a:r>
            <a:r>
              <a:rPr kumimoji="0" lang="ru-RU" sz="2000" b="1" i="0" u="none" strike="noStrike" kern="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прилагающихся к Заявлению</a:t>
            </a:r>
            <a:r>
              <a:rPr lang="ru-RU" sz="2000" b="1" kern="0" dirty="0" smtClean="0">
                <a:solidFill>
                  <a:srgbClr val="C00000"/>
                </a:solidFill>
                <a:latin typeface="Calibri" pitchFamily="34" charset="0"/>
                <a:ea typeface="+mj-ea"/>
                <a:cs typeface="+mj-cs"/>
              </a:rPr>
              <a:t> на </a:t>
            </a:r>
            <a:r>
              <a:rPr kumimoji="0" lang="ru-RU" sz="2000" b="1" i="0" u="none" strike="noStrike" kern="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участие в конкурсе в соответствии с постановлением Правительства ЯНАО   от 23.12.2011 года № 988-П</a:t>
            </a: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1265" name="Rectangle 1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642910" y="1928802"/>
            <a:ext cx="914400" cy="4286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ru-RU" sz="2400" b="1" dirty="0" smtClean="0">
                <a:solidFill>
                  <a:srgbClr val="C00000"/>
                </a:solidFill>
              </a:rPr>
              <a:t>Заявление на участие в конкурсе </a:t>
            </a:r>
            <a:r>
              <a:rPr lang="ru-RU" b="1" dirty="0" smtClean="0">
                <a:solidFill>
                  <a:schemeClr val="tx1"/>
                </a:solidFill>
              </a:rPr>
              <a:t>(Приложение 1)</a:t>
            </a:r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1" name="Блок-схема: альтернативный процесс 20"/>
          <p:cNvSpPr/>
          <p:nvPr/>
        </p:nvSpPr>
        <p:spPr>
          <a:xfrm>
            <a:off x="2214546" y="1214422"/>
            <a:ext cx="6572296" cy="642942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arenR"/>
            </a:pPr>
            <a:r>
              <a:rPr lang="ru-RU" dirty="0" smtClean="0"/>
              <a:t>Проект, подготовленный в соответствии с Приложением</a:t>
            </a:r>
          </a:p>
          <a:p>
            <a:pPr marL="342900" indent="-342900"/>
            <a:r>
              <a:rPr lang="ru-RU" dirty="0" smtClean="0"/>
              <a:t>      № 2 к Порядку</a:t>
            </a:r>
            <a:endParaRPr lang="ru-RU" dirty="0"/>
          </a:p>
        </p:txBody>
      </p:sp>
      <p:sp>
        <p:nvSpPr>
          <p:cNvPr id="47" name="Блок-схема: альтернативный процесс 46"/>
          <p:cNvSpPr/>
          <p:nvPr/>
        </p:nvSpPr>
        <p:spPr>
          <a:xfrm>
            <a:off x="2214546" y="2000240"/>
            <a:ext cx="6572296" cy="642942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 smtClean="0"/>
              <a:t>2) Копия Устава, заверенная подписью и печатью соискателя</a:t>
            </a:r>
            <a:endParaRPr lang="ru-RU" dirty="0"/>
          </a:p>
        </p:txBody>
      </p:sp>
      <p:sp>
        <p:nvSpPr>
          <p:cNvPr id="48" name="Блок-схема: альтернативный процесс 47"/>
          <p:cNvSpPr/>
          <p:nvPr/>
        </p:nvSpPr>
        <p:spPr>
          <a:xfrm>
            <a:off x="2214546" y="2786058"/>
            <a:ext cx="6572296" cy="642942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 smtClean="0"/>
              <a:t>3) Оригиналы письменных согласий на обработку персональных данных согласно Приложению № 5  </a:t>
            </a:r>
            <a:endParaRPr lang="ru-RU" dirty="0"/>
          </a:p>
        </p:txBody>
      </p:sp>
      <p:sp>
        <p:nvSpPr>
          <p:cNvPr id="49" name="Блок-схема: альтернативный процесс 48"/>
          <p:cNvSpPr/>
          <p:nvPr/>
        </p:nvSpPr>
        <p:spPr>
          <a:xfrm>
            <a:off x="2214546" y="3643314"/>
            <a:ext cx="6572296" cy="642942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 smtClean="0"/>
              <a:t>4) Документ, подтверждающий полномочия руководителя соискателя (протокол об избрании, приказ о назначении..)</a:t>
            </a:r>
            <a:endParaRPr lang="ru-RU" dirty="0"/>
          </a:p>
        </p:txBody>
      </p:sp>
      <p:sp>
        <p:nvSpPr>
          <p:cNvPr id="50" name="Блок-схема: альтернативный процесс 49"/>
          <p:cNvSpPr/>
          <p:nvPr/>
        </p:nvSpPr>
        <p:spPr>
          <a:xfrm>
            <a:off x="2214546" y="4429132"/>
            <a:ext cx="6572296" cy="642942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ru-RU" dirty="0" smtClean="0"/>
          </a:p>
          <a:p>
            <a:r>
              <a:rPr lang="ru-RU" dirty="0" smtClean="0"/>
              <a:t>5) Обязательство о </a:t>
            </a:r>
            <a:r>
              <a:rPr lang="ru-RU" dirty="0" err="1" smtClean="0"/>
              <a:t>софинансировании</a:t>
            </a:r>
            <a:r>
              <a:rPr lang="ru-RU" dirty="0" smtClean="0"/>
              <a:t> проекта в размере не менее 10% согласно Приложению № 4</a:t>
            </a:r>
          </a:p>
          <a:p>
            <a:r>
              <a:rPr lang="ru-RU" dirty="0" smtClean="0"/>
              <a:t>    </a:t>
            </a:r>
            <a:endParaRPr lang="ru-RU" dirty="0"/>
          </a:p>
        </p:txBody>
      </p:sp>
      <p:sp>
        <p:nvSpPr>
          <p:cNvPr id="51" name="Блок-схема: альтернативный процесс 50"/>
          <p:cNvSpPr/>
          <p:nvPr/>
        </p:nvSpPr>
        <p:spPr>
          <a:xfrm>
            <a:off x="2214546" y="5214950"/>
            <a:ext cx="6572296" cy="642942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 smtClean="0"/>
              <a:t>6) Иные сведения о проекте по форме Таблицы согласно  Приложению № 3  </a:t>
            </a:r>
            <a:endParaRPr lang="ru-RU" dirty="0"/>
          </a:p>
        </p:txBody>
      </p:sp>
      <p:sp>
        <p:nvSpPr>
          <p:cNvPr id="52" name="Блок-схема: альтернативный процесс 51"/>
          <p:cNvSpPr/>
          <p:nvPr/>
        </p:nvSpPr>
        <p:spPr>
          <a:xfrm>
            <a:off x="2214546" y="6000768"/>
            <a:ext cx="6572296" cy="642942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dirty="0" smtClean="0"/>
              <a:t>7) Иные документы, справки (по инициативе соискателя)</a:t>
            </a:r>
            <a:endParaRPr lang="ru-RU" dirty="0"/>
          </a:p>
        </p:txBody>
      </p:sp>
      <p:cxnSp>
        <p:nvCxnSpPr>
          <p:cNvPr id="24" name="Прямая со стрелкой 23"/>
          <p:cNvCxnSpPr>
            <a:stCxn id="21" idx="1"/>
            <a:endCxn id="20" idx="3"/>
          </p:cNvCxnSpPr>
          <p:nvPr/>
        </p:nvCxnSpPr>
        <p:spPr>
          <a:xfrm rot="10800000" flipV="1">
            <a:off x="1557310" y="1535892"/>
            <a:ext cx="657236" cy="253604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47" idx="1"/>
            <a:endCxn id="20" idx="3"/>
          </p:cNvCxnSpPr>
          <p:nvPr/>
        </p:nvCxnSpPr>
        <p:spPr>
          <a:xfrm rot="10800000" flipV="1">
            <a:off x="1557310" y="2321710"/>
            <a:ext cx="657236" cy="175023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48" idx="1"/>
            <a:endCxn id="20" idx="3"/>
          </p:cNvCxnSpPr>
          <p:nvPr/>
        </p:nvCxnSpPr>
        <p:spPr>
          <a:xfrm rot="10800000" flipV="1">
            <a:off x="1557310" y="3107528"/>
            <a:ext cx="657236" cy="96441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49" idx="1"/>
            <a:endCxn id="20" idx="3"/>
          </p:cNvCxnSpPr>
          <p:nvPr/>
        </p:nvCxnSpPr>
        <p:spPr>
          <a:xfrm rot="10800000" flipV="1">
            <a:off x="1557310" y="3964784"/>
            <a:ext cx="657236" cy="10715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50" idx="1"/>
            <a:endCxn id="20" idx="3"/>
          </p:cNvCxnSpPr>
          <p:nvPr/>
        </p:nvCxnSpPr>
        <p:spPr>
          <a:xfrm rot="10800000">
            <a:off x="1557310" y="4071943"/>
            <a:ext cx="657236" cy="67866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51" idx="1"/>
            <a:endCxn id="20" idx="3"/>
          </p:cNvCxnSpPr>
          <p:nvPr/>
        </p:nvCxnSpPr>
        <p:spPr>
          <a:xfrm rot="10800000">
            <a:off x="1557310" y="4071943"/>
            <a:ext cx="657236" cy="146447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52" idx="1"/>
          </p:cNvCxnSpPr>
          <p:nvPr/>
        </p:nvCxnSpPr>
        <p:spPr>
          <a:xfrm rot="10800000">
            <a:off x="1643042" y="4071943"/>
            <a:ext cx="571504" cy="225029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714348" y="142852"/>
            <a:ext cx="8215370" cy="1014312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В конкурсе могут участвовать социально ориентированные некоммерческие организации, отвечающие следующим требованиям: 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1214422"/>
            <a:ext cx="9144000" cy="6167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000" algn="just">
              <a:lnSpc>
                <a:spcPct val="80000"/>
              </a:lnSpc>
            </a:pP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1. зарегистрированные в автономном округе в установленном федеральным законом порядке и осуществляющие на территории автономного округа;</a:t>
            </a:r>
          </a:p>
          <a:p>
            <a:pPr indent="450000" algn="just">
              <a:lnSpc>
                <a:spcPct val="80000"/>
              </a:lnSpc>
            </a:pPr>
            <a:endParaRPr lang="ru-RU" sz="1000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lnSpc>
                <a:spcPct val="80000"/>
              </a:lnSpc>
            </a:pP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2. не имеющие просроченной задолженности по оплате труда перед работниками (в случае если соискатель состоит в трудовых отношениях с работниками);</a:t>
            </a:r>
          </a:p>
          <a:p>
            <a:pPr indent="450000" algn="just">
              <a:lnSpc>
                <a:spcPct val="80000"/>
              </a:lnSpc>
            </a:pPr>
            <a:endParaRPr lang="ru-RU" sz="1000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lnSpc>
                <a:spcPct val="80000"/>
              </a:lnSpc>
            </a:pP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3. выплачивающие работникам заработную плату не ниже установленного в автономном округе минимального размера заработной платы (в случае если соискатель состоит в трудовых отношениях с работниками);</a:t>
            </a:r>
          </a:p>
          <a:p>
            <a:pPr indent="450000" algn="just">
              <a:lnSpc>
                <a:spcPct val="80000"/>
              </a:lnSpc>
            </a:pPr>
            <a:endParaRPr lang="ru-RU" sz="1000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lnSpc>
                <a:spcPct val="80000"/>
              </a:lnSpc>
            </a:pP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4. не имеющие нарушений, не устраненных по предписаниям, выданным органом, осуществляющим государственный надзор и контроль за соблюдением трудового законодательства и иных нормативных правовых актов, содержащих нормы трудового права (в случае если соискатель состоит в трудовых отношениях с работниками);</a:t>
            </a:r>
          </a:p>
          <a:p>
            <a:pPr indent="450000" algn="just">
              <a:lnSpc>
                <a:spcPct val="80000"/>
              </a:lnSpc>
            </a:pPr>
            <a:endParaRPr lang="ru-RU" sz="1000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lnSpc>
                <a:spcPct val="80000"/>
              </a:lnSpc>
            </a:pP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5. не имеющие задолженности по представлению документов, предусмотренных статьей 32 Федерального закона от 12 января 1996 года №7-ФЗ «О некоммерческих организациях», в Территориальное управление Министерства юстиции Российской Федерации по автономному округу за предыдущий год;</a:t>
            </a:r>
          </a:p>
          <a:p>
            <a:pPr indent="450000" algn="just">
              <a:lnSpc>
                <a:spcPct val="80000"/>
              </a:lnSpc>
            </a:pPr>
            <a:endParaRPr lang="ru-RU" sz="1000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lnSpc>
                <a:spcPct val="80000"/>
              </a:lnSpc>
            </a:pP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6. принимающие обязательства по финансированию проекта за счет средств из внебюджетных источников в размере не менее 10% общей суммы расходов на реализацию проекта;</a:t>
            </a:r>
          </a:p>
          <a:p>
            <a:pPr indent="450000" algn="just">
              <a:lnSpc>
                <a:spcPct val="80000"/>
              </a:lnSpc>
            </a:pPr>
            <a:endParaRPr lang="ru-RU" sz="1000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lnSpc>
                <a:spcPct val="80000"/>
              </a:lnSpc>
            </a:pP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7. не имеющие задолженности по уплате налогов, сборов, страховых взносов в государственные внебюджетные фонды, пеней и штрафов;</a:t>
            </a:r>
          </a:p>
          <a:p>
            <a:pPr indent="450000" algn="just">
              <a:lnSpc>
                <a:spcPct val="80000"/>
              </a:lnSpc>
            </a:pPr>
            <a:endParaRPr lang="ru-RU" sz="1000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lnSpc>
                <a:spcPct val="80000"/>
              </a:lnSpc>
            </a:pP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8. не находящиеся в стадии реорганизации, банкротства, ликвидации, приостановления деятельности в административном порядке в соответствии с законодательством Российской Федерации;</a:t>
            </a:r>
          </a:p>
          <a:p>
            <a:pPr indent="450000" algn="just">
              <a:lnSpc>
                <a:spcPct val="80000"/>
              </a:lnSpc>
            </a:pPr>
            <a:endParaRPr lang="ru-RU" sz="1000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lnSpc>
                <a:spcPct val="80000"/>
              </a:lnSpc>
            </a:pP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9. не получающие средства из соответствующего бюджета бюджетной системы Российской Федерации в соответствии с иными нормативными правовыми актами, муниципальными правовыми актами на реализацию мероприятий проекта, финансирование которых будет осуществляться за счет средств субсидии.</a:t>
            </a:r>
          </a:p>
          <a:p>
            <a:pPr marL="342900" indent="-342900"/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835696" y="332656"/>
            <a:ext cx="6165898" cy="824508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В конкурсе не могут принимать участие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1500174"/>
            <a:ext cx="8429684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428596" y="1571612"/>
            <a:ext cx="850112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/>
              <a:t>1. государственные корпорации;</a:t>
            </a:r>
          </a:p>
          <a:p>
            <a:r>
              <a:rPr lang="ru-RU" sz="2000" dirty="0" smtClean="0"/>
              <a:t>2. государственные компании;</a:t>
            </a:r>
          </a:p>
          <a:p>
            <a:r>
              <a:rPr lang="ru-RU" sz="2000" dirty="0" smtClean="0"/>
              <a:t>3. политические партии;</a:t>
            </a:r>
          </a:p>
          <a:p>
            <a:r>
              <a:rPr lang="ru-RU" sz="2000" dirty="0" smtClean="0"/>
              <a:t>4. государственные учреждения;</a:t>
            </a:r>
          </a:p>
          <a:p>
            <a:r>
              <a:rPr lang="ru-RU" sz="2000" dirty="0" smtClean="0"/>
              <a:t>5. муниципальные учреждения;</a:t>
            </a:r>
          </a:p>
          <a:p>
            <a:r>
              <a:rPr lang="ru-RU" sz="2000" dirty="0" smtClean="0"/>
              <a:t>6. общественные объединения, не являющиеся юридическими лицами;</a:t>
            </a:r>
          </a:p>
          <a:p>
            <a:r>
              <a:rPr lang="ru-RU" sz="2000" dirty="0" smtClean="0"/>
              <a:t>7. соискатели, представители которых являются членами комиссии по проведению конкурса .</a:t>
            </a:r>
          </a:p>
          <a:p>
            <a:pPr>
              <a:lnSpc>
                <a:spcPct val="50000"/>
              </a:lnSpc>
              <a:defRPr/>
            </a:pPr>
            <a:endParaRPr lang="ru-RU" sz="2000" b="1" dirty="0" smtClean="0"/>
          </a:p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571604" y="332656"/>
            <a:ext cx="7215238" cy="824508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Технические требования к оформлению и подготовке заявки на участие в конкурсе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1500174"/>
            <a:ext cx="8429684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214282" y="1357298"/>
            <a:ext cx="8786874" cy="734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ru-RU" sz="2200" dirty="0" smtClean="0">
                <a:solidFill>
                  <a:schemeClr val="accent6">
                    <a:lumMod val="75000"/>
                  </a:schemeClr>
                </a:solidFill>
              </a:rPr>
              <a:t>Заявка:</a:t>
            </a:r>
          </a:p>
          <a:p>
            <a:pPr marL="457200" indent="-457200"/>
            <a:endParaRPr lang="ru-RU" sz="1200" dirty="0" smtClean="0"/>
          </a:p>
          <a:p>
            <a:pPr algn="just">
              <a:lnSpc>
                <a:spcPct val="80000"/>
              </a:lnSpc>
              <a:buFontTx/>
              <a:buChar char="-"/>
            </a:pPr>
            <a:r>
              <a:rPr lang="ru-RU" sz="22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представляется на бумажном и на электронном носителях, содержащих идентичные варианты;</a:t>
            </a:r>
          </a:p>
          <a:p>
            <a:pPr algn="just">
              <a:lnSpc>
                <a:spcPct val="80000"/>
              </a:lnSpc>
            </a:pPr>
            <a:endParaRPr lang="ru-RU" sz="1000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just">
              <a:lnSpc>
                <a:spcPct val="80000"/>
              </a:lnSpc>
              <a:buFontTx/>
              <a:buChar char="-"/>
            </a:pPr>
            <a:r>
              <a:rPr lang="ru-RU" sz="22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должна содержать опись входящих в ее состав документов;</a:t>
            </a:r>
          </a:p>
          <a:p>
            <a:pPr algn="just">
              <a:lnSpc>
                <a:spcPct val="80000"/>
              </a:lnSpc>
            </a:pPr>
            <a:endParaRPr lang="ru-RU" sz="1000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just">
              <a:lnSpc>
                <a:spcPct val="80000"/>
              </a:lnSpc>
              <a:buFontTx/>
              <a:buChar char="-"/>
            </a:pPr>
            <a:r>
              <a:rPr lang="ru-RU" sz="2200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22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должна быть скреплена печатью и подписана руководителем организации или уполномоченным лицом;</a:t>
            </a:r>
          </a:p>
          <a:p>
            <a:pPr algn="just">
              <a:lnSpc>
                <a:spcPct val="80000"/>
              </a:lnSpc>
            </a:pPr>
            <a:endParaRPr lang="ru-RU" sz="1000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just">
              <a:lnSpc>
                <a:spcPct val="80000"/>
              </a:lnSpc>
              <a:buFontTx/>
              <a:buChar char="-"/>
            </a:pPr>
            <a:r>
              <a:rPr lang="ru-RU" sz="22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должна быть прошита и листы пронумерованы.</a:t>
            </a:r>
          </a:p>
          <a:p>
            <a:endParaRPr lang="ru-RU" sz="2000" dirty="0" smtClean="0"/>
          </a:p>
          <a:p>
            <a:pPr indent="450000" algn="just"/>
            <a:r>
              <a:rPr lang="ru-RU" sz="2000" i="1" dirty="0" smtClean="0">
                <a:solidFill>
                  <a:schemeClr val="accent5">
                    <a:lumMod val="25000"/>
                  </a:schemeClr>
                </a:solidFill>
              </a:rPr>
              <a:t>Первыми должны быть подшиты Заявление и опись документов, входящих в состав заявки, с указанием страниц, на которых находятся соответствующие документы.</a:t>
            </a:r>
          </a:p>
          <a:p>
            <a:pPr indent="450000" algn="just"/>
            <a:endParaRPr lang="ru-RU" sz="2000" dirty="0" smtClean="0"/>
          </a:p>
          <a:p>
            <a:pPr indent="450000" algn="just"/>
            <a:r>
              <a:rPr lang="ru-RU" sz="2000" i="1" dirty="0" smtClean="0">
                <a:solidFill>
                  <a:schemeClr val="accent5">
                    <a:lumMod val="25000"/>
                  </a:schemeClr>
                </a:solidFill>
              </a:rPr>
              <a:t>В случае направления заявки по почте на конверте указываются слова </a:t>
            </a:r>
            <a:r>
              <a:rPr lang="ru-RU" sz="2000" dirty="0" smtClean="0">
                <a:solidFill>
                  <a:srgbClr val="3D3F8F"/>
                </a:solidFill>
              </a:rPr>
              <a:t>«Заявка на участие в конкурсе на предоставление субсидий из окружного бюджета социально ориентированным некоммерческим организациям в Ямало-Ненецком автономном округе»</a:t>
            </a:r>
          </a:p>
          <a:p>
            <a:pPr indent="450000" algn="just"/>
            <a:endParaRPr lang="ru-RU" sz="2000" dirty="0" smtClean="0"/>
          </a:p>
          <a:p>
            <a:endParaRPr lang="ru-RU" sz="2000" dirty="0" smtClean="0"/>
          </a:p>
          <a:p>
            <a:endParaRPr lang="ru-RU" sz="2000" dirty="0" smtClean="0"/>
          </a:p>
          <a:p>
            <a:endParaRPr lang="ru-RU" sz="2000" dirty="0" smtClean="0"/>
          </a:p>
          <a:p>
            <a:endParaRPr lang="ru-RU" sz="2000" dirty="0" smtClean="0"/>
          </a:p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571472" y="214290"/>
            <a:ext cx="8358246" cy="1000132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Порядок и сроки проведения конкурса </a:t>
            </a:r>
          </a:p>
          <a:p>
            <a:pPr marL="0" marR="0" lvl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600" b="1" kern="0" dirty="0" smtClean="0">
                <a:solidFill>
                  <a:srgbClr val="C00000"/>
                </a:solidFill>
                <a:latin typeface="Calibri" pitchFamily="34" charset="0"/>
                <a:ea typeface="+mj-ea"/>
                <a:cs typeface="+mj-cs"/>
              </a:rPr>
              <a:t>(общий срок проведения конкурса – 75 календарных дней с момента объявления конкурса)</a:t>
            </a:r>
            <a:endParaRPr kumimoji="0" lang="ru-RU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1500174"/>
            <a:ext cx="8429684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428596" y="1571612"/>
            <a:ext cx="8501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00034" y="1571612"/>
            <a:ext cx="835824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142845" y="1357298"/>
          <a:ext cx="8858313" cy="5398806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458189"/>
                <a:gridCol w="6643733"/>
                <a:gridCol w="1756391"/>
              </a:tblGrid>
              <a:tr h="357190">
                <a:tc gridSpan="3">
                  <a:txBody>
                    <a:bodyPr/>
                    <a:lstStyle/>
                    <a:p>
                      <a:pPr algn="just"/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       Аппарат Общественной палаты: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7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7ECFF"/>
                    </a:solidFill>
                  </a:tcPr>
                </a:tc>
              </a:tr>
              <a:tr h="642941"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ru-RU" b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7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 smtClean="0">
                          <a:solidFill>
                            <a:schemeClr val="tx1"/>
                          </a:solidFill>
                        </a:rPr>
                        <a:t>осуществляет прием и регистрацию заявок на участие в конкурсе с даты объявления о конкурсе</a:t>
                      </a:r>
                      <a:endParaRPr lang="ru-R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7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smtClean="0">
                          <a:solidFill>
                            <a:schemeClr val="tx1"/>
                          </a:solidFill>
                        </a:rPr>
                        <a:t> 35 </a:t>
                      </a:r>
                      <a:r>
                        <a:rPr lang="ru-RU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календарных дней</a:t>
                      </a:r>
                    </a:p>
                    <a:p>
                      <a:endParaRPr lang="ru-RU" sz="12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7ECFF"/>
                    </a:solidFill>
                  </a:tcPr>
                </a:tc>
              </a:tr>
              <a:tr h="595321">
                <a:tc>
                  <a:txBody>
                    <a:bodyPr/>
                    <a:lstStyle/>
                    <a:p>
                      <a:r>
                        <a:rPr lang="ru-RU" dirty="0" smtClean="0"/>
                        <a:t>- </a:t>
                      </a:r>
                      <a:endParaRPr lang="ru-RU" dirty="0"/>
                    </a:p>
                  </a:txBody>
                  <a:tcPr>
                    <a:solidFill>
                      <a:srgbClr val="B7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проверяет заявки на участие в конкурсе на соответствие установленным требованиям</a:t>
                      </a:r>
                      <a:endParaRPr lang="ru-RU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7ECFF"/>
                    </a:solidFill>
                  </a:tcPr>
                </a:tc>
                <a:tc rowSpan="3">
                  <a:txBody>
                    <a:bodyPr/>
                    <a:lstStyle/>
                    <a:p>
                      <a:endParaRPr lang="ru-RU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ru-RU" dirty="0" smtClean="0"/>
                        <a:t> </a:t>
                      </a:r>
                      <a:r>
                        <a:rPr lang="ru-RU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рабочих дней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7ECFF"/>
                    </a:solidFill>
                  </a:tcPr>
                </a:tc>
              </a:tr>
              <a:tr h="598183">
                <a:tc>
                  <a:txBody>
                    <a:bodyPr/>
                    <a:lstStyle/>
                    <a:p>
                      <a:r>
                        <a:rPr lang="ru-RU" dirty="0" smtClean="0"/>
                        <a:t>-</a:t>
                      </a:r>
                      <a:r>
                        <a:rPr lang="ru-RU" baseline="0" dirty="0" smtClean="0"/>
                        <a:t> </a:t>
                      </a:r>
                      <a:endParaRPr lang="ru-RU" dirty="0"/>
                    </a:p>
                  </a:txBody>
                  <a:tcPr>
                    <a:solidFill>
                      <a:srgbClr val="B7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формирует список участников, не допущенных к участию в конкурсе</a:t>
                      </a:r>
                      <a:endParaRPr lang="ru-RU" dirty="0"/>
                    </a:p>
                  </a:txBody>
                  <a:tcPr>
                    <a:solidFill>
                      <a:srgbClr val="B7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</a:tr>
              <a:tr h="672483">
                <a:tc>
                  <a:txBody>
                    <a:bodyPr/>
                    <a:lstStyle/>
                    <a:p>
                      <a:r>
                        <a:rPr lang="ru-RU" dirty="0" smtClean="0"/>
                        <a:t>- </a:t>
                      </a:r>
                      <a:endParaRPr lang="ru-RU" dirty="0"/>
                    </a:p>
                  </a:txBody>
                  <a:tcPr>
                    <a:solidFill>
                      <a:srgbClr val="B7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направляет членам конкурсной комиссии заявки на участие в конкурсе для предварительного рассмотрения и оценки</a:t>
                      </a:r>
                      <a:endParaRPr lang="ru-RU" dirty="0"/>
                    </a:p>
                  </a:txBody>
                  <a:tcPr>
                    <a:solidFill>
                      <a:srgbClr val="B7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</a:tr>
              <a:tr h="277183">
                <a:tc gridSpan="3">
                  <a:txBody>
                    <a:bodyPr/>
                    <a:lstStyle/>
                    <a:p>
                      <a:pPr algn="just"/>
                      <a:r>
                        <a:rPr lang="ru-RU" b="1" dirty="0" smtClean="0"/>
                        <a:t>       Члены конкурсной</a:t>
                      </a:r>
                      <a:r>
                        <a:rPr lang="ru-RU" b="1" baseline="0" dirty="0" smtClean="0"/>
                        <a:t> комиссии: </a:t>
                      </a:r>
                      <a:endParaRPr lang="ru-RU" b="1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B7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7ECFF"/>
                    </a:solidFill>
                  </a:tcPr>
                </a:tc>
              </a:tr>
              <a:tr h="672483">
                <a:tc>
                  <a:txBody>
                    <a:bodyPr/>
                    <a:lstStyle/>
                    <a:p>
                      <a:r>
                        <a:rPr lang="ru-RU" dirty="0" smtClean="0"/>
                        <a:t>- </a:t>
                      </a:r>
                      <a:endParaRPr lang="ru-RU" dirty="0"/>
                    </a:p>
                  </a:txBody>
                  <a:tcPr>
                    <a:solidFill>
                      <a:srgbClr val="B7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рассматривают и оценивают заявки по установленным критериям оценки и направляют Уполномоченному органу</a:t>
                      </a:r>
                      <a:endParaRPr lang="ru-RU" dirty="0"/>
                    </a:p>
                  </a:txBody>
                  <a:tcPr>
                    <a:solidFill>
                      <a:srgbClr val="B7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ru-RU" sz="1400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календарных дней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7ECFF"/>
                    </a:solidFill>
                  </a:tcPr>
                </a:tc>
              </a:tr>
              <a:tr h="310510">
                <a:tc gridSpan="3">
                  <a:txBody>
                    <a:bodyPr/>
                    <a:lstStyle/>
                    <a:p>
                      <a:pPr algn="just"/>
                      <a:r>
                        <a:rPr lang="ru-RU" b="1" dirty="0" smtClean="0"/>
                        <a:t>       Уполномоченный орган:</a:t>
                      </a:r>
                      <a:endParaRPr lang="ru-RU" b="1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B7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7ECFF"/>
                    </a:solidFill>
                  </a:tcPr>
                </a:tc>
              </a:tr>
              <a:tr h="672483">
                <a:tc>
                  <a:txBody>
                    <a:bodyPr/>
                    <a:lstStyle/>
                    <a:p>
                      <a:r>
                        <a:rPr lang="ru-RU" dirty="0" smtClean="0"/>
                        <a:t>-</a:t>
                      </a:r>
                      <a:endParaRPr lang="ru-RU" dirty="0"/>
                    </a:p>
                  </a:txBody>
                  <a:tcPr>
                    <a:solidFill>
                      <a:srgbClr val="B7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организует</a:t>
                      </a:r>
                      <a:r>
                        <a:rPr lang="ru-RU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проведение з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аседания конкурсной комиссии по определению победителей конкурса с</a:t>
                      </a:r>
                      <a:r>
                        <a:rPr lang="ru-RU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даты окончания приема заявок</a:t>
                      </a:r>
                      <a:endParaRPr lang="ru-RU" dirty="0"/>
                    </a:p>
                  </a:txBody>
                  <a:tcPr>
                    <a:solidFill>
                      <a:srgbClr val="B7E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r>
                        <a:rPr lang="ru-RU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календарных дней</a:t>
                      </a:r>
                      <a:endParaRPr lang="ru-RU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7EC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928662" y="332656"/>
            <a:ext cx="7929618" cy="824508"/>
          </a:xfrm>
          <a:prstGeom prst="rect">
            <a:avLst/>
          </a:prstGeom>
        </p:spPr>
        <p:txBody>
          <a:bodyPr anchor="ctr" anchorCtr="0"/>
          <a:lstStyle/>
          <a:p>
            <a:pPr lvl="0"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Критерии оценки заявки на участие в конкурсе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Calibri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1500174"/>
            <a:ext cx="8429684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428596" y="1571612"/>
            <a:ext cx="8501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85720" y="3964900"/>
            <a:ext cx="857256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sz="2000" b="1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pPr algn="ctr"/>
            <a:r>
              <a:rPr lang="ru-RU" dirty="0" smtClean="0"/>
              <a:t>     Заявка по каждому критерию оценивается членом конкурсной комиссии   от 1 до 5 баллов.</a:t>
            </a:r>
            <a:endParaRPr lang="ru-RU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285720" y="1928803"/>
          <a:ext cx="8644000" cy="3357585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500066"/>
                <a:gridCol w="8143934"/>
              </a:tblGrid>
              <a:tr h="642941">
                <a:tc gridSpan="2">
                  <a:txBody>
                    <a:bodyPr/>
                    <a:lstStyle/>
                    <a:p>
                      <a:pPr algn="just"/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Оценка заявки на участие в конкурсе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осуществляется по четырем группам критериев:</a:t>
                      </a:r>
                    </a:p>
                    <a:p>
                      <a:pPr algn="just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585797">
                <a:tc>
                  <a:txBody>
                    <a:bodyPr/>
                    <a:lstStyle/>
                    <a:p>
                      <a:r>
                        <a:rPr lang="ru-RU" dirty="0" smtClean="0"/>
                        <a:t>1.</a:t>
                      </a:r>
                      <a:endParaRPr lang="ru-RU" dirty="0"/>
                    </a:p>
                  </a:txBody>
                  <a:tcPr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значимости и актуальности проекта;</a:t>
                      </a:r>
                      <a:endParaRPr lang="ru-RU" dirty="0"/>
                    </a:p>
                  </a:txBody>
                  <a:tcPr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571504">
                <a:tc>
                  <a:txBody>
                    <a:bodyPr/>
                    <a:lstStyle/>
                    <a:p>
                      <a:r>
                        <a:rPr lang="ru-RU" dirty="0" smtClean="0"/>
                        <a:t>2. </a:t>
                      </a:r>
                      <a:endParaRPr lang="ru-RU" dirty="0"/>
                    </a:p>
                  </a:txBody>
                  <a:tcPr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экономической эффективности проекта;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502928">
                <a:tc>
                  <a:txBody>
                    <a:bodyPr/>
                    <a:lstStyle/>
                    <a:p>
                      <a:r>
                        <a:rPr lang="ru-RU" dirty="0" smtClean="0"/>
                        <a:t>3.</a:t>
                      </a:r>
                      <a:endParaRPr lang="ru-RU" dirty="0"/>
                    </a:p>
                  </a:txBody>
                  <a:tcPr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социальной эффективности проекта;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  <a:tr h="577228">
                <a:tc>
                  <a:txBody>
                    <a:bodyPr/>
                    <a:lstStyle/>
                    <a:p>
                      <a:r>
                        <a:rPr lang="ru-RU" dirty="0" smtClean="0"/>
                        <a:t>4. </a:t>
                      </a:r>
                      <a:endParaRPr lang="ru-RU" dirty="0"/>
                    </a:p>
                  </a:txBody>
                  <a:tcPr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профессиональной компетенции участника конкурса.</a:t>
                      </a:r>
                      <a:endParaRPr lang="ru-RU" dirty="0"/>
                    </a:p>
                  </a:txBody>
                  <a:tcPr>
                    <a:solidFill>
                      <a:schemeClr val="accent5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137160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928662" y="332656"/>
            <a:ext cx="7929618" cy="824508"/>
          </a:xfrm>
          <a:prstGeom prst="rect">
            <a:avLst/>
          </a:prstGeom>
        </p:spPr>
        <p:txBody>
          <a:bodyPr anchor="ctr" anchorCtr="0"/>
          <a:lstStyle/>
          <a:p>
            <a:pPr lvl="0" algn="ctr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5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Прием заявок на участие в конкурсе</a:t>
            </a:r>
            <a:endParaRPr kumimoji="0" lang="ru-RU" sz="25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+mj-ea"/>
              <a:cs typeface="Calibri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1500174"/>
            <a:ext cx="8429684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  <a:p>
            <a:pPr>
              <a:lnSpc>
                <a:spcPct val="80000"/>
              </a:lnSpc>
            </a:pPr>
            <a:endParaRPr lang="ru-RU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428596" y="1571612"/>
            <a:ext cx="8501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defRPr/>
            </a:pPr>
            <a:endParaRPr lang="ru-RU" sz="2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57158" y="2000240"/>
            <a:ext cx="8501122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Прием заявки на участие в конкурсе осуществляется по адресу: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defRPr/>
            </a:pPr>
            <a:r>
              <a:rPr lang="ru-RU" dirty="0" smtClean="0"/>
              <a:t>629008, г. Салехард, ул. </a:t>
            </a:r>
            <a:r>
              <a:rPr lang="ru-RU" dirty="0" err="1" smtClean="0"/>
              <a:t>Подшибякина</a:t>
            </a:r>
            <a:r>
              <a:rPr lang="ru-RU" dirty="0" smtClean="0"/>
              <a:t>, дом 25а, </a:t>
            </a:r>
            <a:r>
              <a:rPr lang="ru-RU" dirty="0" err="1" smtClean="0"/>
              <a:t>каб</a:t>
            </a:r>
            <a:r>
              <a:rPr lang="ru-RU" dirty="0" smtClean="0"/>
              <a:t>. 5, </a:t>
            </a:r>
          </a:p>
          <a:p>
            <a:pPr algn="just">
              <a:defRPr/>
            </a:pPr>
            <a:r>
              <a:rPr lang="ru-RU" dirty="0" smtClean="0"/>
              <a:t>Государственное казенное учреждение «Аппарат Общественной палаты Ямало-Ненецкого автономного округа». </a:t>
            </a:r>
          </a:p>
          <a:p>
            <a:pPr algn="just">
              <a:defRPr/>
            </a:pPr>
            <a:r>
              <a:rPr lang="ru-RU" b="1" dirty="0" smtClean="0"/>
              <a:t>Время приема заявок:</a:t>
            </a:r>
            <a:r>
              <a:rPr lang="ru-RU" dirty="0" smtClean="0"/>
              <a:t> с понедельника по пятницу, с 8.30 до 17.00, перерыв с 12.30 до 14.00. </a:t>
            </a:r>
          </a:p>
          <a:p>
            <a:pPr algn="just">
              <a:defRPr/>
            </a:pPr>
            <a:r>
              <a:rPr lang="ru-RU" b="1" dirty="0" smtClean="0"/>
              <a:t>Адрес электронной почты</a:t>
            </a:r>
            <a:r>
              <a:rPr lang="ru-RU" dirty="0" smtClean="0"/>
              <a:t>: </a:t>
            </a:r>
            <a:r>
              <a:rPr lang="ru-RU" u="sng" dirty="0" err="1" smtClean="0">
                <a:hlinkClick r:id="rId3"/>
              </a:rPr>
              <a:t>konkurs.nko@mail.ru</a:t>
            </a:r>
            <a:r>
              <a:rPr lang="ru-RU" dirty="0" smtClean="0"/>
              <a:t>, </a:t>
            </a:r>
          </a:p>
          <a:p>
            <a:pPr algn="just">
              <a:defRPr/>
            </a:pPr>
            <a:r>
              <a:rPr lang="ru-RU" b="1" dirty="0" smtClean="0"/>
              <a:t>Контактные телефоны</a:t>
            </a:r>
            <a:r>
              <a:rPr lang="ru-RU" dirty="0" smtClean="0"/>
              <a:t>: 8/34922/4-66-42, 8/34922/4-66-59</a:t>
            </a:r>
            <a:endParaRPr lang="ru-RU" b="1" dirty="0" smtClean="0">
              <a:solidFill>
                <a:srgbClr val="00669B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57158" y="4465274"/>
            <a:ext cx="838465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b="1" dirty="0" smtClean="0"/>
              <a:t>Контактные телефоны для получения консультаций</a:t>
            </a:r>
            <a:r>
              <a:rPr lang="ru-RU" dirty="0" smtClean="0"/>
              <a:t> </a:t>
            </a:r>
            <a:r>
              <a:rPr lang="ru-RU" b="1" dirty="0" smtClean="0"/>
              <a:t>по вопросам подготовки заявки</a:t>
            </a:r>
            <a:r>
              <a:rPr lang="ru-RU" dirty="0" smtClean="0"/>
              <a:t> на участие в конкурсе: 8/34922/2-42-66, 8/34922/2-42-69</a:t>
            </a:r>
            <a:endParaRPr lang="ru-RU" b="1" dirty="0" smtClean="0">
              <a:solidFill>
                <a:srgbClr val="00669B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  <a:p>
            <a:pPr algn="just">
              <a:defRPr/>
            </a:pPr>
            <a:endParaRPr lang="ru-RU" sz="1600" b="1" dirty="0" smtClean="0">
              <a:solidFill>
                <a:srgbClr val="00669B"/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1">
  <a:themeElements>
    <a:clrScheme name="9_Оформление по умолчанию 1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CC"/>
      </a:hlink>
      <a:folHlink>
        <a:srgbClr val="33CCFF"/>
      </a:folHlink>
    </a:clrScheme>
    <a:fontScheme name="9_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3CC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CC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1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CC"/>
        </a:hlink>
        <a:folHlink>
          <a:srgbClr val="33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Тема1">
  <a:themeElements>
    <a:clrScheme name="9_Оформление по умолчанию 1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CC"/>
      </a:hlink>
      <a:folHlink>
        <a:srgbClr val="33CCFF"/>
      </a:folHlink>
    </a:clrScheme>
    <a:fontScheme name="9_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9_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Оформление по умолчанию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3CC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CC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Оформление по умолчанию 1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CC"/>
        </a:hlink>
        <a:folHlink>
          <a:srgbClr val="33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2381</TotalTime>
  <Words>1332</Words>
  <Application>Microsoft Office PowerPoint</Application>
  <PresentationFormat>Экран (4:3)</PresentationFormat>
  <Paragraphs>169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Тема1</vt:lpstr>
      <vt:lpstr>1_Тема1</vt:lpstr>
      <vt:lpstr>Тема Office</vt:lpstr>
      <vt:lpstr>Слайд 1</vt:lpstr>
      <vt:lpstr>                                     Участники конкурса   Конкурс проводится среди социально ориентированных некоммерческих организаций. Некоммерческая организация считается социально ориентированной, в случае осуществления в соответствии с Уставом одного или нескольких видов деятельности: </vt:lpstr>
      <vt:lpstr>Виды деятельности, утвержденные статьей 31.1. Федерального закона от 12 января 1996 года  №7-ФЗ «О некоммерческих организациях»: </vt:lpstr>
      <vt:lpstr>Виды деятельности, утвержденные Законом Ямало-Ненецкого автономного округа от  25 ноября 2011 года №129-ЗАО  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Государственная национальная политика</dc:title>
  <dc:creator>Захаров Алексей Александрович</dc:creator>
  <cp:lastModifiedBy>Nifontov</cp:lastModifiedBy>
  <cp:revision>317</cp:revision>
  <dcterms:created xsi:type="dcterms:W3CDTF">2015-02-19T14:11:47Z</dcterms:created>
  <dcterms:modified xsi:type="dcterms:W3CDTF">2017-02-06T12:15:23Z</dcterms:modified>
</cp:coreProperties>
</file>